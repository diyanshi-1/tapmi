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137a66c9b144e0" /><Relationship Type="http://schemas.openxmlformats.org/officeDocument/2006/relationships/extended-properties" Target="/docProps/app.xml" Id="R603c82b246474ce0" /><Relationship Type="http://schemas.openxmlformats.org/officeDocument/2006/relationships/officeDocument" Target="/ppt/presentation.xml" Id="R27d7c4e926614062" /></Relationships>
</file>

<file path=ppt/presentation.xml><?xml version="1.0" encoding="utf-8"?>
<p:presentation xmlns:p="http://schemas.openxmlformats.org/presentationml/2006/main">
  <p:sldMasterIdLst>
    <p:sldMasterId xmlns:r="http://schemas.openxmlformats.org/officeDocument/2006/relationships" id="2147483648" r:id="R669b83eb492a4014"/>
  </p:sldMasterIdLst>
  <p:notesMasterIdLst>
    <p:notesMasterId xmlns:r="http://schemas.openxmlformats.org/officeDocument/2006/relationships" r:id="R3ca5dd997db041b7"/>
  </p:notesMasterIdLst>
  <p:sldIdLst>
    <p:sldId xmlns:r="http://schemas.openxmlformats.org/officeDocument/2006/relationships" id="256" r:id="R72a3f9be6c454b9c"/>
    <p:sldId xmlns:r="http://schemas.openxmlformats.org/officeDocument/2006/relationships" id="257" r:id="R1f703ae7221f43fc"/>
    <p:sldId xmlns:r="http://schemas.openxmlformats.org/officeDocument/2006/relationships" id="258" r:id="Re62fd59be5394646"/>
    <p:sldId xmlns:r="http://schemas.openxmlformats.org/officeDocument/2006/relationships" id="259" r:id="R08edb7a4c6434f66"/>
    <p:sldId xmlns:r="http://schemas.openxmlformats.org/officeDocument/2006/relationships" id="260" r:id="R1ef61c3bb8964db0"/>
    <p:sldId xmlns:r="http://schemas.openxmlformats.org/officeDocument/2006/relationships" id="261" r:id="R290bcd53f20d460e"/>
    <p:sldId xmlns:r="http://schemas.openxmlformats.org/officeDocument/2006/relationships" id="262" r:id="Raf083c43ab8d4e08"/>
    <p:sldId xmlns:r="http://schemas.openxmlformats.org/officeDocument/2006/relationships" id="263" r:id="R5199bff2bd1a4e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c0484530844f56" /><Relationship Type="http://schemas.openxmlformats.org/officeDocument/2006/relationships/slideMaster" Target="/ppt/slideMasters/slideMaster1.xml" Id="R669b83eb492a4014" /><Relationship Type="http://schemas.openxmlformats.org/officeDocument/2006/relationships/notesMaster" Target="/ppt/notesMasters/notesMaster1.xml" Id="R3ca5dd997db041b7" /><Relationship Type="http://schemas.openxmlformats.org/officeDocument/2006/relationships/presProps" Target="/ppt/presProps.xml" Id="R4bb3e7e1dfd74980" /><Relationship Type="http://schemas.openxmlformats.org/officeDocument/2006/relationships/tableStyles" Target="/ppt/tableStyles.xml" Id="Ra113567283754d10" /><Relationship Type="http://schemas.openxmlformats.org/officeDocument/2006/relationships/slide" Target="/ppt/slides/slide1.xml" Id="R72a3f9be6c454b9c" /><Relationship Type="http://schemas.openxmlformats.org/officeDocument/2006/relationships/slide" Target="/ppt/slides/slide2.xml" Id="R1f703ae7221f43fc" /><Relationship Type="http://schemas.openxmlformats.org/officeDocument/2006/relationships/slide" Target="/ppt/slides/slide3.xml" Id="Re62fd59be5394646" /><Relationship Type="http://schemas.openxmlformats.org/officeDocument/2006/relationships/slide" Target="/ppt/slides/slide4.xml" Id="R08edb7a4c6434f66" /><Relationship Type="http://schemas.openxmlformats.org/officeDocument/2006/relationships/slide" Target="/ppt/slides/slide5.xml" Id="R1ef61c3bb8964db0" /><Relationship Type="http://schemas.openxmlformats.org/officeDocument/2006/relationships/slide" Target="/ppt/slides/slide6.xml" Id="R290bcd53f20d460e" /><Relationship Type="http://schemas.openxmlformats.org/officeDocument/2006/relationships/slide" Target="/ppt/slides/slide7.xml" Id="Raf083c43ab8d4e08" /><Relationship Type="http://schemas.openxmlformats.org/officeDocument/2006/relationships/slide" Target="/ppt/slides/slide8.xml" Id="R5199bff2bd1a4e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4f1007a14d42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2b6ea200394d72" /><Relationship Type="http://schemas.openxmlformats.org/officeDocument/2006/relationships/notesMaster" Target="/ppt/notesMasters/notesMaster1.xml" Id="Rcb52abfda32d44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51ee64020248f6" /><Relationship Type="http://schemas.openxmlformats.org/officeDocument/2006/relationships/notesMaster" Target="/ppt/notesMasters/notesMaster1.xml" Id="R6a216ab9b27a4d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8ee77d116f407d" /><Relationship Type="http://schemas.openxmlformats.org/officeDocument/2006/relationships/notesMaster" Target="/ppt/notesMasters/notesMaster1.xml" Id="R7e2f4670dea643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2756ef88cc47ae" /><Relationship Type="http://schemas.openxmlformats.org/officeDocument/2006/relationships/notesMaster" Target="/ppt/notesMasters/notesMaster1.xml" Id="R4f7badb2441a4f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e468ce53c14269" /><Relationship Type="http://schemas.openxmlformats.org/officeDocument/2006/relationships/notesMaster" Target="/ppt/notesMasters/notesMaster1.xml" Id="R418364df877744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a31bfec8804553" /><Relationship Type="http://schemas.openxmlformats.org/officeDocument/2006/relationships/notesMaster" Target="/ppt/notesMasters/notesMaster1.xml" Id="Re2b7c5cfddf94b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7fab3cc3a44724" /><Relationship Type="http://schemas.openxmlformats.org/officeDocument/2006/relationships/notesMaster" Target="/ppt/notesMasters/notesMaster1.xml" Id="Re694e3669dc641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9cc7b4b3314f96" /><Relationship Type="http://schemas.openxmlformats.org/officeDocument/2006/relationships/notesMaster" Target="/ppt/notesMasters/notesMaster1.xml" Id="Rc2f3cdf457af4a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TAPMI application and README.md. Live data checked on 25 October 2026 (Asia/Kolkata). The deck summarizes the published Kala Fest roster and the current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live Reports page and the published_allocations pointer in backend/cultural_committee.db. Version 7 has 19 assignments against 25 required roles. The 6 vacancies are 4 in Stage &amp; Backstage Management (Critical) and 2 in IT &amp; Technical Support (High). The same version has 82 active volunteers without an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 &amp; Allocation in the live app on 25 October 2026. The observed snapshot showed 19/25 and 76% for both algorithms, 2 versus 1 assignments within volunteers' top-two department preferences, and runtimes 0.0062s versus 0.168s. The numbers are request-level timings and vary on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backend/app/allocation/greedy.py, ilp_optimizer.py, eligibility.py, and ALLOCATION_ALGORITHM.md. The code currently hard-codes the stated score additions. The algorithm specification says exact objective weights and a measurable fairness metric remain open; the current ILP objective does not include an explicit fairness term. These implementation weights should not be represented as committee-approved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ARCHITECTURE.md, DATABASE_SCHEMA.md, backend/app/__init__.py, backend/app/auth_middleware.py, backend/app/routes/allocation_routes.py, and backend/app/routes/simulation_routes.py. Convener and Co-convener have organizer access; volunteer sessions are scoped to the signed-in volunteer.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backend/app/routes/report_routes.py and frontend/src/pages/ReportsPage.jsx. The roster endpoint uses the published allocation pointer, returns HTTP 409 when no version is published, and requires the Convener or Co-convener role. CSV includes all assigned records. The Excel workbook has a roster summary and one worksheet for each department with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Dockerfile, docker-compose.yml, .env.compose.example, backend/app/db/seed.py, backend/app/db/connection.py, and README.md. SEED_DEMO_DATA defaults to false. With an organizer bootstrap email and password, startup seeds the department and skill catalog without demo users or sample volunteers/events. The current activation flow prints OTP codes to application logs and does not connect to an email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PRD.md, ALLOCATION_ALGORITHM.md, backend/app/services/auth_service.py, and the current web app. Do not place demo passwords in a shareable deck. The login screen has quick demo buttons for the supplied test accounts. Production deployment should use unique organizer credentials, avoid demo seeding, approve the scoring policy, and integrate OTP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6ec2e3ba4d47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9502cdd62f54e3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38b7c96a1d4a0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47c9b3bc7a4432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5a92822c7643e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e3a57f14d940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DD8665-44E5-4FC7-BF66-07B0AAA0373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0BE0475-F458-4523-934E-2C444879E40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67E2218-E46F-44E4-96A9-DCE0E5EC537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923CC8-EC7C-4D4F-9391-F7A71F7B1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A652A68-9B6D-4C76-AC04-A50A81AEB41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F52528C-06D7-467D-9851-6E9DFCCDD1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1E67CF-E591-422A-A498-DEACF224242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C23930F-BDA4-482E-9448-24E0F3FC4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F419B8-C2D5-4ABA-B021-44384F00DA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F1F045-E37D-4649-A825-F09B396186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fedb70ca4e4603" /><Relationship Type="http://schemas.openxmlformats.org/officeDocument/2006/relationships/slideLayout" Target="/ppt/slideLayouts/slideLayout1.xml" Id="R4314a3f7f9e24220" /><Relationship Type="http://schemas.openxmlformats.org/officeDocument/2006/relationships/slideLayout" Target="/ppt/slideLayouts/slideLayout2.xml" Id="R0ca90de41cff4243" /><Relationship Type="http://schemas.openxmlformats.org/officeDocument/2006/relationships/slideLayout" Target="/ppt/slideLayouts/slideLayout3.xml" Id="Rc2dfa1482c004bb8" /><Relationship Type="http://schemas.openxmlformats.org/officeDocument/2006/relationships/slideLayout" Target="/ppt/slideLayouts/slideLayout4.xml" Id="R425c46db98e6453e" /><Relationship Type="http://schemas.openxmlformats.org/officeDocument/2006/relationships/slideLayout" Target="/ppt/slideLayouts/slideLayout5.xml" Id="Rfc20ae091fdc4122" /><Relationship Type="http://schemas.openxmlformats.org/officeDocument/2006/relationships/slideLayout" Target="/ppt/slideLayouts/slideLayout6.xml" Id="Rf31cdc89abfa4f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14a3f7f9e24220"/>
    <p:sldLayoutId xmlns:r="http://schemas.openxmlformats.org/officeDocument/2006/relationships" id="2147483650" r:id="R0ca90de41cff4243"/>
    <p:sldLayoutId xmlns:r="http://schemas.openxmlformats.org/officeDocument/2006/relationships" id="2147483651" r:id="Rc2dfa1482c004bb8"/>
    <p:sldLayoutId xmlns:r="http://schemas.openxmlformats.org/officeDocument/2006/relationships" id="2147483652" r:id="R425c46db98e6453e"/>
    <p:sldLayoutId xmlns:r="http://schemas.openxmlformats.org/officeDocument/2006/relationships" id="2147483653" r:id="Rfc20ae091fdc4122"/>
    <p:sldLayoutId xmlns:r="http://schemas.openxmlformats.org/officeDocument/2006/relationships" id="2147483654" r:id="Rf31cdc89abfa4f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f790fc09bb74294" /><Relationship Type="http://schemas.openxmlformats.org/officeDocument/2006/relationships/notesSlide" Target="/ppt/notesSlides/notesSlide1.xml" Id="R8f29c30112c347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0d811e8322e47b6" /><Relationship Type="http://schemas.openxmlformats.org/officeDocument/2006/relationships/chart" Target="/ppt/slides/charts/chart1.xml" Id="Rd4954b44ce394086" /><Relationship Type="http://schemas.openxmlformats.org/officeDocument/2006/relationships/notesSlide" Target="/ppt/notesSlides/notesSlide2.xml" Id="Raaca54795c2b4a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595234934b04b78" /><Relationship Type="http://schemas.openxmlformats.org/officeDocument/2006/relationships/notesSlide" Target="/ppt/notesSlides/notesSlide3.xml" Id="R97c890fc687e4c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e935d41fd73465c" /><Relationship Type="http://schemas.openxmlformats.org/officeDocument/2006/relationships/notesSlide" Target="/ppt/notesSlides/notesSlide4.xml" Id="R6f2a44f56a5045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91debc90de1433b" /><Relationship Type="http://schemas.openxmlformats.org/officeDocument/2006/relationships/notesSlide" Target="/ppt/notesSlides/notesSlide5.xml" Id="R5e715611e7fc4e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0482630630e450c" /><Relationship Type="http://schemas.openxmlformats.org/officeDocument/2006/relationships/notesSlide" Target="/ppt/notesSlides/notesSlide6.xml" Id="R6d05ee85bff548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b4bf5760ddd4fa2" /><Relationship Type="http://schemas.openxmlformats.org/officeDocument/2006/relationships/notesSlide" Target="/ppt/notesSlides/notesSlide7.xml" Id="R5b0d1247e8c944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5e3d32ad7984806" /><Relationship Type="http://schemas.openxmlformats.org/officeDocument/2006/relationships/notesSlide" Target="/ppt/notesSlides/notesSlide8.xml" Id="R44f4ab38a80e4079" /></Relationships>
</file>

<file path=ppt/slides/charts/chart1.xml><?xml version="1.0" encoding="utf-8"?>
<c:chartSpace xmlns:c="http://schemas.openxmlformats.org/drawingml/2006/chart">
  <c:lang val="en-US"/>
  <c:chart>
    <c:plotArea>
      <c:barChart>
        <c:barDir val="bar"/>
        <c:grouping val="clustered"/>
        <c:varyColors val="0"/>
        <c:ser>
          <c:idx val="0"/>
          <c:order val="0"/>
          <c:tx>
            <c:v>Open positions</c:v>
          </c:tx>
          <c:spPr>
            <a:solidFill xmlns:a="http://schemas.openxmlformats.org/drawingml/2006/main">
              <a:srgbClr val="E8752E"/>
            </a:solidFill>
          </c:spPr>
          <c:invertIfNegative val="0"/>
          <c:cat>
            <c:strLit>
              <c:ptCount val="2"/>
              <c:pt idx="0">
                <c:v>Stage &amp; Backstage Management</c:v>
              </c:pt>
              <c:pt idx="1">
                <c:v>IT &amp; Technical Support</c:v>
              </c:pt>
            </c:strLit>
          </c:cat>
          <c:val>
            <c:numLit>
              <c:formatCode>General</c:formatCode>
              <c:ptCount val="2"/>
              <c:pt idx="0">
                <c:v>4</c:v>
              </c:pt>
              <c:pt idx="1">
                <c:v>2</c:v>
              </c:pt>
            </c:numLit>
          </c:val>
        </c:ser>
        <c:dLbls>
          <c:txPr>
            <a:bodyPr xmlns:a="http://schemas.openxmlformats.org/drawingml/2006/main" anchorCtr="1"/>
            <a:lstStyle xmlns:a="http://schemas.openxmlformats.org/drawingml/2006/main"/>
            <a:p xmlns:a="http://schemas.openxmlformats.org/drawingml/2006/main">
              <a:pPr>
                <a:defRPr sz="1500" b="1">
                  <a:solidFill>
                    <a:srgbClr val="242424"/>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B6B6B"/>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institution">
            <a:extLst xmlns:a="http://schemas.openxmlformats.org/drawingml/2006/main">
              <a:ext uri="{FF2B5EF4-FFF2-40B4-BE49-F238E27FC236}">
                <a16:creationId xmlns:a16="http://schemas.microsoft.com/office/drawing/2014/main" id="{DFE7C8C7-4522-4D15-AA25-E03446FD32EA}"/>
              </a:ext>
            </a:extLst>
          </p:cNvPr>
          <p:cNvSpPr>
            <a:spLocks xmlns:a="http://schemas.openxmlformats.org/drawingml/2006/main" noGrp="1"/>
          </p:cNvSpPr>
          <p:nvPr/>
        </p:nvSpPr>
        <p:spPr>
          <a:xfrm xmlns:a="http://schemas.openxmlformats.org/drawingml/2006/main">
            <a:off x="800100" y="838200"/>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E8752E"/>
                </a:solidFill>
                <a:latin typeface="Arial"/>
                <a:ea typeface="Arial"/>
                <a:cs typeface="Arial"/>
              </a:defRPr>
            </a:defPPr>
            <a:lvl1pPr algn="l">
              <a:defRPr sz="1575" b="1">
                <a:solidFill>
                  <a:srgbClr val="E8752E"/>
                </a:solidFill>
                <a:latin typeface="Arial"/>
                <a:ea typeface="Arial"/>
                <a:cs typeface="Arial"/>
              </a:defRPr>
            </a:lvl1pPr>
            <a:lvl2pPr algn="l">
              <a:defRPr sz="1575" b="1">
                <a:solidFill>
                  <a:srgbClr val="E8752E"/>
                </a:solidFill>
                <a:latin typeface="Arial"/>
                <a:ea typeface="Arial"/>
                <a:cs typeface="Arial"/>
              </a:defRPr>
            </a:lvl2pPr>
            <a:lvl3pPr algn="l">
              <a:defRPr sz="1575" b="1">
                <a:solidFill>
                  <a:srgbClr val="E8752E"/>
                </a:solidFill>
                <a:latin typeface="Arial"/>
                <a:ea typeface="Arial"/>
                <a:cs typeface="Arial"/>
              </a:defRPr>
            </a:lvl3pPr>
            <a:lvl4pPr algn="l">
              <a:defRPr sz="1575" b="1">
                <a:solidFill>
                  <a:srgbClr val="E8752E"/>
                </a:solidFill>
                <a:latin typeface="Arial"/>
                <a:ea typeface="Arial"/>
                <a:cs typeface="Arial"/>
              </a:defRPr>
            </a:lvl4pPr>
            <a:lvl5pPr algn="l">
              <a:defRPr sz="1575" b="1">
                <a:solidFill>
                  <a:srgbClr val="E8752E"/>
                </a:solidFill>
                <a:latin typeface="Arial"/>
                <a:ea typeface="Arial"/>
                <a:cs typeface="Arial"/>
              </a:defRPr>
            </a:lvl5pPr>
            <a:lvl6pPr algn="l">
              <a:defRPr sz="1575" b="1">
                <a:solidFill>
                  <a:srgbClr val="E8752E"/>
                </a:solidFill>
                <a:latin typeface="Arial"/>
                <a:ea typeface="Arial"/>
                <a:cs typeface="Arial"/>
              </a:defRPr>
            </a:lvl6pPr>
            <a:lvl7pPr algn="l">
              <a:defRPr sz="1575" b="1">
                <a:solidFill>
                  <a:srgbClr val="E8752E"/>
                </a:solidFill>
                <a:latin typeface="Arial"/>
                <a:ea typeface="Arial"/>
                <a:cs typeface="Arial"/>
              </a:defRPr>
            </a:lvl7pPr>
            <a:lvl8pPr algn="l">
              <a:defRPr sz="1575" b="1">
                <a:solidFill>
                  <a:srgbClr val="E8752E"/>
                </a:solidFill>
                <a:latin typeface="Arial"/>
                <a:ea typeface="Arial"/>
                <a:cs typeface="Arial"/>
              </a:defRPr>
            </a:lvl8pPr>
            <a:lvl9pPr algn="l">
              <a:defRPr sz="1575" b="1">
                <a:solidFill>
                  <a:srgbClr val="E8752E"/>
                </a:solidFill>
                <a:latin typeface="Arial"/>
                <a:ea typeface="Arial"/>
                <a:cs typeface="Arial"/>
              </a:defRPr>
            </a:lvl9pPr>
          </a:lstStyle>
          <a:p xmlns:a="http://schemas.openxmlformats.org/drawingml/2006/main">
            <a:pPr algn="l">
              <a:defRPr sz="1575" b="1">
                <a:solidFill>
                  <a:srgbClr val="E8752E"/>
                </a:solidFill>
                <a:latin typeface="Arial"/>
                <a:ea typeface="Arial"/>
                <a:cs typeface="Arial"/>
              </a:defRPr>
            </a:pPr>
            <a:r>
              <a:rPr sz="1575" b="1">
                <a:solidFill>
                  <a:srgbClr val="E8752E"/>
                </a:solidFill>
                <a:latin typeface="Arial"/>
                <a:ea typeface="Arial"/>
                <a:cs typeface="Arial"/>
              </a:rPr>
              <a:t>TAPMI CULTURAL COMMITTEE</a:t>
            </a:r>
          </a:p>
        </p:txBody>
      </p:sp>
      <p:sp>
        <p:nvSpPr>
          <p:cNvPr id="2" name="cover-title">
            <a:extLst xmlns:a="http://schemas.openxmlformats.org/drawingml/2006/main">
              <a:ext uri="{FF2B5EF4-FFF2-40B4-BE49-F238E27FC236}">
                <a16:creationId xmlns:a16="http://schemas.microsoft.com/office/drawing/2014/main" id="{FF5D0EE9-0C5D-4B19-B556-D26F7B8D32C2}"/>
              </a:ext>
            </a:extLst>
          </p:cNvPr>
          <p:cNvSpPr>
            <a:spLocks xmlns:a="http://schemas.openxmlformats.org/drawingml/2006/main" noGrp="1"/>
          </p:cNvSpPr>
          <p:nvPr/>
        </p:nvSpPr>
        <p:spPr>
          <a:xfrm xmlns:a="http://schemas.openxmlformats.org/drawingml/2006/main">
            <a:off x="800100" y="1924050"/>
            <a:ext cx="10287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800" b="1">
                <a:solidFill>
                  <a:srgbClr val="242424"/>
                </a:solidFill>
                <a:latin typeface="Arial"/>
                <a:ea typeface="Arial"/>
                <a:cs typeface="Arial"/>
              </a:defRPr>
            </a:defPPr>
            <a:lvl1pPr algn="l">
              <a:defRPr sz="4800" b="1">
                <a:solidFill>
                  <a:srgbClr val="242424"/>
                </a:solidFill>
                <a:latin typeface="Arial"/>
                <a:ea typeface="Arial"/>
                <a:cs typeface="Arial"/>
              </a:defRPr>
            </a:lvl1pPr>
            <a:lvl2pPr algn="l">
              <a:defRPr sz="4800" b="1">
                <a:solidFill>
                  <a:srgbClr val="242424"/>
                </a:solidFill>
                <a:latin typeface="Arial"/>
                <a:ea typeface="Arial"/>
                <a:cs typeface="Arial"/>
              </a:defRPr>
            </a:lvl2pPr>
            <a:lvl3pPr algn="l">
              <a:defRPr sz="4800" b="1">
                <a:solidFill>
                  <a:srgbClr val="242424"/>
                </a:solidFill>
                <a:latin typeface="Arial"/>
                <a:ea typeface="Arial"/>
                <a:cs typeface="Arial"/>
              </a:defRPr>
            </a:lvl3pPr>
            <a:lvl4pPr algn="l">
              <a:defRPr sz="4800" b="1">
                <a:solidFill>
                  <a:srgbClr val="242424"/>
                </a:solidFill>
                <a:latin typeface="Arial"/>
                <a:ea typeface="Arial"/>
                <a:cs typeface="Arial"/>
              </a:defRPr>
            </a:lvl4pPr>
            <a:lvl5pPr algn="l">
              <a:defRPr sz="4800" b="1">
                <a:solidFill>
                  <a:srgbClr val="242424"/>
                </a:solidFill>
                <a:latin typeface="Arial"/>
                <a:ea typeface="Arial"/>
                <a:cs typeface="Arial"/>
              </a:defRPr>
            </a:lvl5pPr>
            <a:lvl6pPr algn="l">
              <a:defRPr sz="4800" b="1">
                <a:solidFill>
                  <a:srgbClr val="242424"/>
                </a:solidFill>
                <a:latin typeface="Arial"/>
                <a:ea typeface="Arial"/>
                <a:cs typeface="Arial"/>
              </a:defRPr>
            </a:lvl6pPr>
            <a:lvl7pPr algn="l">
              <a:defRPr sz="4800" b="1">
                <a:solidFill>
                  <a:srgbClr val="242424"/>
                </a:solidFill>
                <a:latin typeface="Arial"/>
                <a:ea typeface="Arial"/>
                <a:cs typeface="Arial"/>
              </a:defRPr>
            </a:lvl7pPr>
            <a:lvl8pPr algn="l">
              <a:defRPr sz="4800" b="1">
                <a:solidFill>
                  <a:srgbClr val="242424"/>
                </a:solidFill>
                <a:latin typeface="Arial"/>
                <a:ea typeface="Arial"/>
                <a:cs typeface="Arial"/>
              </a:defRPr>
            </a:lvl8pPr>
            <a:lvl9pPr algn="l">
              <a:defRPr sz="4800" b="1">
                <a:solidFill>
                  <a:srgbClr val="242424"/>
                </a:solidFill>
                <a:latin typeface="Arial"/>
                <a:ea typeface="Arial"/>
                <a:cs typeface="Arial"/>
              </a:defRPr>
            </a:lvl9pPr>
          </a:lstStyle>
          <a:p xmlns:a="http://schemas.openxmlformats.org/drawingml/2006/main">
            <a:pPr algn="l">
              <a:defRPr sz="4800" b="1">
                <a:solidFill>
                  <a:srgbClr val="242424"/>
                </a:solidFill>
                <a:latin typeface="Arial"/>
                <a:ea typeface="Arial"/>
                <a:cs typeface="Arial"/>
              </a:defRPr>
            </a:pPr>
            <a:r>
              <a:rPr sz="4800" b="1">
                <a:solidFill>
                  <a:srgbClr val="242424"/>
                </a:solidFill>
                <a:latin typeface="Arial"/>
                <a:ea typeface="Arial"/>
                <a:cs typeface="Arial"/>
              </a:rPr>
              <a:t>Kala Fest staffing allocation</a:t>
            </a:r>
          </a:p>
        </p:txBody>
      </p:sp>
      <p:sp>
        <p:nvSpPr>
          <p:cNvPr id="3" name="cover-subtitle">
            <a:extLst xmlns:a="http://schemas.openxmlformats.org/drawingml/2006/main">
              <a:ext uri="{FF2B5EF4-FFF2-40B4-BE49-F238E27FC236}">
                <a16:creationId xmlns:a16="http://schemas.microsoft.com/office/drawing/2014/main" id="{1436471F-F51C-4E6C-914E-596B51194420}"/>
              </a:ext>
            </a:extLst>
          </p:cNvPr>
          <p:cNvSpPr>
            <a:spLocks xmlns:a="http://schemas.openxmlformats.org/drawingml/2006/main" noGrp="1"/>
          </p:cNvSpPr>
          <p:nvPr/>
        </p:nvSpPr>
        <p:spPr>
          <a:xfrm xmlns:a="http://schemas.openxmlformats.org/drawingml/2006/main">
            <a:off x="800100" y="3162300"/>
            <a:ext cx="904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a:solidFill>
                  <a:srgbClr val="6B6B6B"/>
                </a:solidFill>
                <a:latin typeface="Arial"/>
                <a:ea typeface="Arial"/>
                <a:cs typeface="Arial"/>
              </a:defRPr>
            </a:defPPr>
            <a:lvl1pPr algn="l">
              <a:defRPr sz="2250" b="0">
                <a:solidFill>
                  <a:srgbClr val="6B6B6B"/>
                </a:solidFill>
                <a:latin typeface="Arial"/>
                <a:ea typeface="Arial"/>
                <a:cs typeface="Arial"/>
              </a:defRPr>
            </a:lvl1pPr>
            <a:lvl2pPr algn="l">
              <a:defRPr sz="2250" b="0">
                <a:solidFill>
                  <a:srgbClr val="6B6B6B"/>
                </a:solidFill>
                <a:latin typeface="Arial"/>
                <a:ea typeface="Arial"/>
                <a:cs typeface="Arial"/>
              </a:defRPr>
            </a:lvl2pPr>
            <a:lvl3pPr algn="l">
              <a:defRPr sz="2250" b="0">
                <a:solidFill>
                  <a:srgbClr val="6B6B6B"/>
                </a:solidFill>
                <a:latin typeface="Arial"/>
                <a:ea typeface="Arial"/>
                <a:cs typeface="Arial"/>
              </a:defRPr>
            </a:lvl3pPr>
            <a:lvl4pPr algn="l">
              <a:defRPr sz="2250" b="0">
                <a:solidFill>
                  <a:srgbClr val="6B6B6B"/>
                </a:solidFill>
                <a:latin typeface="Arial"/>
                <a:ea typeface="Arial"/>
                <a:cs typeface="Arial"/>
              </a:defRPr>
            </a:lvl4pPr>
            <a:lvl5pPr algn="l">
              <a:defRPr sz="2250" b="0">
                <a:solidFill>
                  <a:srgbClr val="6B6B6B"/>
                </a:solidFill>
                <a:latin typeface="Arial"/>
                <a:ea typeface="Arial"/>
                <a:cs typeface="Arial"/>
              </a:defRPr>
            </a:lvl5pPr>
            <a:lvl6pPr algn="l">
              <a:defRPr sz="2250" b="0">
                <a:solidFill>
                  <a:srgbClr val="6B6B6B"/>
                </a:solidFill>
                <a:latin typeface="Arial"/>
                <a:ea typeface="Arial"/>
                <a:cs typeface="Arial"/>
              </a:defRPr>
            </a:lvl6pPr>
            <a:lvl7pPr algn="l">
              <a:defRPr sz="2250" b="0">
                <a:solidFill>
                  <a:srgbClr val="6B6B6B"/>
                </a:solidFill>
                <a:latin typeface="Arial"/>
                <a:ea typeface="Arial"/>
                <a:cs typeface="Arial"/>
              </a:defRPr>
            </a:lvl7pPr>
            <a:lvl8pPr algn="l">
              <a:defRPr sz="2250" b="0">
                <a:solidFill>
                  <a:srgbClr val="6B6B6B"/>
                </a:solidFill>
                <a:latin typeface="Arial"/>
                <a:ea typeface="Arial"/>
                <a:cs typeface="Arial"/>
              </a:defRPr>
            </a:lvl8pPr>
            <a:lvl9pPr algn="l">
              <a:defRPr sz="2250" b="0">
                <a:solidFill>
                  <a:srgbClr val="6B6B6B"/>
                </a:solidFill>
                <a:latin typeface="Arial"/>
                <a:ea typeface="Arial"/>
                <a:cs typeface="Arial"/>
              </a:defRPr>
            </a:lvl9pPr>
          </a:lstStyle>
          <a:p xmlns:a="http://schemas.openxmlformats.org/drawingml/2006/main">
            <a:pPr algn="l">
              <a:defRPr sz="2250" b="0">
                <a:solidFill>
                  <a:srgbClr val="6B6B6B"/>
                </a:solidFill>
                <a:latin typeface="Arial"/>
                <a:ea typeface="Arial"/>
                <a:cs typeface="Arial"/>
              </a:defRPr>
            </a:pPr>
            <a:r>
              <a:rPr sz="2250" b="0">
                <a:solidFill>
                  <a:srgbClr val="6B6B6B"/>
                </a:solidFill>
                <a:latin typeface="Arial"/>
                <a:ea typeface="Arial"/>
                <a:cs typeface="Arial"/>
              </a:rPr>
              <a:t>Committee demo and technical brief</a:t>
            </a:r>
          </a:p>
        </p:txBody>
      </p:sp>
      <p:sp>
        <p:nvSpPr>
          <p:cNvPr id="4" name="cover-date">
            <a:extLst xmlns:a="http://schemas.openxmlformats.org/drawingml/2006/main">
              <a:ext uri="{FF2B5EF4-FFF2-40B4-BE49-F238E27FC236}">
                <a16:creationId xmlns:a16="http://schemas.microsoft.com/office/drawing/2014/main" id="{BFD9993F-4DAB-41B9-B3D9-A0D25DC94830}"/>
              </a:ext>
            </a:extLst>
          </p:cNvPr>
          <p:cNvSpPr>
            <a:spLocks xmlns:a="http://schemas.openxmlformats.org/drawingml/2006/main" noGrp="1"/>
          </p:cNvSpPr>
          <p:nvPr/>
        </p:nvSpPr>
        <p:spPr>
          <a:xfrm xmlns:a="http://schemas.openxmlformats.org/drawingml/2006/main">
            <a:off x="800100" y="5191125"/>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6B6B6B"/>
                </a:solidFill>
                <a:latin typeface="Arial"/>
                <a:ea typeface="Arial"/>
                <a:cs typeface="Arial"/>
              </a:defRPr>
            </a:defPPr>
            <a:lvl1pPr algn="l">
              <a:defRPr sz="1650" b="0">
                <a:solidFill>
                  <a:srgbClr val="6B6B6B"/>
                </a:solidFill>
                <a:latin typeface="Arial"/>
                <a:ea typeface="Arial"/>
                <a:cs typeface="Arial"/>
              </a:defRPr>
            </a:lvl1pPr>
            <a:lvl2pPr algn="l">
              <a:defRPr sz="1650" b="0">
                <a:solidFill>
                  <a:srgbClr val="6B6B6B"/>
                </a:solidFill>
                <a:latin typeface="Arial"/>
                <a:ea typeface="Arial"/>
                <a:cs typeface="Arial"/>
              </a:defRPr>
            </a:lvl2pPr>
            <a:lvl3pPr algn="l">
              <a:defRPr sz="1650" b="0">
                <a:solidFill>
                  <a:srgbClr val="6B6B6B"/>
                </a:solidFill>
                <a:latin typeface="Arial"/>
                <a:ea typeface="Arial"/>
                <a:cs typeface="Arial"/>
              </a:defRPr>
            </a:lvl3pPr>
            <a:lvl4pPr algn="l">
              <a:defRPr sz="1650" b="0">
                <a:solidFill>
                  <a:srgbClr val="6B6B6B"/>
                </a:solidFill>
                <a:latin typeface="Arial"/>
                <a:ea typeface="Arial"/>
                <a:cs typeface="Arial"/>
              </a:defRPr>
            </a:lvl4pPr>
            <a:lvl5pPr algn="l">
              <a:defRPr sz="1650" b="0">
                <a:solidFill>
                  <a:srgbClr val="6B6B6B"/>
                </a:solidFill>
                <a:latin typeface="Arial"/>
                <a:ea typeface="Arial"/>
                <a:cs typeface="Arial"/>
              </a:defRPr>
            </a:lvl5pPr>
            <a:lvl6pPr algn="l">
              <a:defRPr sz="1650" b="0">
                <a:solidFill>
                  <a:srgbClr val="6B6B6B"/>
                </a:solidFill>
                <a:latin typeface="Arial"/>
                <a:ea typeface="Arial"/>
                <a:cs typeface="Arial"/>
              </a:defRPr>
            </a:lvl6pPr>
            <a:lvl7pPr algn="l">
              <a:defRPr sz="1650" b="0">
                <a:solidFill>
                  <a:srgbClr val="6B6B6B"/>
                </a:solidFill>
                <a:latin typeface="Arial"/>
                <a:ea typeface="Arial"/>
                <a:cs typeface="Arial"/>
              </a:defRPr>
            </a:lvl7pPr>
            <a:lvl8pPr algn="l">
              <a:defRPr sz="1650" b="0">
                <a:solidFill>
                  <a:srgbClr val="6B6B6B"/>
                </a:solidFill>
                <a:latin typeface="Arial"/>
                <a:ea typeface="Arial"/>
                <a:cs typeface="Arial"/>
              </a:defRPr>
            </a:lvl8pPr>
            <a:lvl9pPr algn="l">
              <a:defRPr sz="1650" b="0">
                <a:solidFill>
                  <a:srgbClr val="6B6B6B"/>
                </a:solidFill>
                <a:latin typeface="Arial"/>
                <a:ea typeface="Arial"/>
                <a:cs typeface="Arial"/>
              </a:defRPr>
            </a:lvl9pPr>
          </a:lstStyle>
          <a:p xmlns:a="http://schemas.openxmlformats.org/drawingml/2006/main">
            <a:pPr algn="l">
              <a:defRPr sz="1650" b="0">
                <a:solidFill>
                  <a:srgbClr val="6B6B6B"/>
                </a:solidFill>
                <a:latin typeface="Arial"/>
                <a:ea typeface="Arial"/>
                <a:cs typeface="Arial"/>
              </a:defRPr>
            </a:pPr>
            <a:r>
              <a:rPr sz="1650" b="0">
                <a:solidFill>
                  <a:srgbClr val="6B6B6B"/>
                </a:solidFill>
                <a:latin typeface="Arial"/>
                <a:ea typeface="Arial"/>
                <a:cs typeface="Arial"/>
              </a:rPr>
              <a:t>25 October 2026</a:t>
            </a:r>
          </a:p>
        </p:txBody>
      </p:sp>
      <p:sp>
        <p:nvSpPr>
          <p:cNvPr id="5" name="cover-version">
            <a:extLst xmlns:a="http://schemas.openxmlformats.org/drawingml/2006/main">
              <a:ext uri="{FF2B5EF4-FFF2-40B4-BE49-F238E27FC236}">
                <a16:creationId xmlns:a16="http://schemas.microsoft.com/office/drawing/2014/main" id="{24BB951F-10C9-4962-B362-60A9F842EBE7}"/>
              </a:ext>
            </a:extLst>
          </p:cNvPr>
          <p:cNvSpPr>
            <a:spLocks xmlns:a="http://schemas.openxmlformats.org/drawingml/2006/main" noGrp="1"/>
          </p:cNvSpPr>
          <p:nvPr/>
        </p:nvSpPr>
        <p:spPr>
          <a:xfrm xmlns:a="http://schemas.openxmlformats.org/drawingml/2006/main">
            <a:off x="800100" y="56197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242424"/>
                </a:solidFill>
                <a:latin typeface="Arial"/>
                <a:ea typeface="Arial"/>
                <a:cs typeface="Arial"/>
              </a:defRPr>
            </a:defPPr>
            <a:lvl1pPr algn="l">
              <a:defRPr sz="1800" b="1">
                <a:solidFill>
                  <a:srgbClr val="242424"/>
                </a:solidFill>
                <a:latin typeface="Arial"/>
                <a:ea typeface="Arial"/>
                <a:cs typeface="Arial"/>
              </a:defRPr>
            </a:lvl1pPr>
            <a:lvl2pPr algn="l">
              <a:defRPr sz="1800" b="1">
                <a:solidFill>
                  <a:srgbClr val="242424"/>
                </a:solidFill>
                <a:latin typeface="Arial"/>
                <a:ea typeface="Arial"/>
                <a:cs typeface="Arial"/>
              </a:defRPr>
            </a:lvl2pPr>
            <a:lvl3pPr algn="l">
              <a:defRPr sz="1800" b="1">
                <a:solidFill>
                  <a:srgbClr val="242424"/>
                </a:solidFill>
                <a:latin typeface="Arial"/>
                <a:ea typeface="Arial"/>
                <a:cs typeface="Arial"/>
              </a:defRPr>
            </a:lvl3pPr>
            <a:lvl4pPr algn="l">
              <a:defRPr sz="1800" b="1">
                <a:solidFill>
                  <a:srgbClr val="242424"/>
                </a:solidFill>
                <a:latin typeface="Arial"/>
                <a:ea typeface="Arial"/>
                <a:cs typeface="Arial"/>
              </a:defRPr>
            </a:lvl4pPr>
            <a:lvl5pPr algn="l">
              <a:defRPr sz="1800" b="1">
                <a:solidFill>
                  <a:srgbClr val="242424"/>
                </a:solidFill>
                <a:latin typeface="Arial"/>
                <a:ea typeface="Arial"/>
                <a:cs typeface="Arial"/>
              </a:defRPr>
            </a:lvl5pPr>
            <a:lvl6pPr algn="l">
              <a:defRPr sz="1800" b="1">
                <a:solidFill>
                  <a:srgbClr val="242424"/>
                </a:solidFill>
                <a:latin typeface="Arial"/>
                <a:ea typeface="Arial"/>
                <a:cs typeface="Arial"/>
              </a:defRPr>
            </a:lvl6pPr>
            <a:lvl7pPr algn="l">
              <a:defRPr sz="1800" b="1">
                <a:solidFill>
                  <a:srgbClr val="242424"/>
                </a:solidFill>
                <a:latin typeface="Arial"/>
                <a:ea typeface="Arial"/>
                <a:cs typeface="Arial"/>
              </a:defRPr>
            </a:lvl7pPr>
            <a:lvl8pPr algn="l">
              <a:defRPr sz="1800" b="1">
                <a:solidFill>
                  <a:srgbClr val="242424"/>
                </a:solidFill>
                <a:latin typeface="Arial"/>
                <a:ea typeface="Arial"/>
                <a:cs typeface="Arial"/>
              </a:defRPr>
            </a:lvl8pPr>
            <a:lvl9pPr algn="l">
              <a:defRPr sz="1800" b="1">
                <a:solidFill>
                  <a:srgbClr val="242424"/>
                </a:solidFill>
                <a:latin typeface="Arial"/>
                <a:ea typeface="Arial"/>
                <a:cs typeface="Arial"/>
              </a:defRPr>
            </a:lvl9pPr>
          </a:lstStyle>
          <a:p xmlns:a="http://schemas.openxmlformats.org/drawingml/2006/main">
            <a:pPr algn="l">
              <a:defRPr sz="1800" b="1">
                <a:solidFill>
                  <a:srgbClr val="242424"/>
                </a:solidFill>
                <a:latin typeface="Arial"/>
                <a:ea typeface="Arial"/>
                <a:cs typeface="Arial"/>
              </a:defRPr>
            </a:pPr>
            <a:r>
              <a:rPr sz="1800" b="1">
                <a:solidFill>
                  <a:srgbClr val="242424"/>
                </a:solidFill>
                <a:latin typeface="Arial"/>
                <a:ea typeface="Arial"/>
                <a:cs typeface="Arial"/>
              </a:rPr>
              <a:t>Published roster version 7</a:t>
            </a:r>
          </a:p>
        </p:txBody>
      </p:sp>
    </p:spTree>
    <p:extLst>
      <p:ext uri="{BB962C8B-B14F-4D97-AF65-F5344CB8AC3E}">
        <p14:creationId xmlns:p14="http://schemas.microsoft.com/office/powerpoint/2010/main" val="21063872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E60B853B-3056-447E-9239-6682FC2231C3}"/>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Six published positions remain open</a:t>
            </a:r>
          </a:p>
        </p:txBody>
      </p:sp>
      <p:sp>
        <p:nvSpPr>
          <p:cNvPr id="2" name="filled-metric">
            <a:extLst xmlns:a="http://schemas.openxmlformats.org/drawingml/2006/main">
              <a:ext uri="{FF2B5EF4-FFF2-40B4-BE49-F238E27FC236}">
                <a16:creationId xmlns:a16="http://schemas.microsoft.com/office/drawing/2014/main" id="{EDFEB14B-6764-4519-9E45-2022F7B1D3CA}"/>
              </a:ext>
            </a:extLst>
          </p:cNvPr>
          <p:cNvSpPr>
            <a:spLocks xmlns:a="http://schemas.openxmlformats.org/drawingml/2006/main" noGrp="1"/>
          </p:cNvSpPr>
          <p:nvPr/>
        </p:nvSpPr>
        <p:spPr>
          <a:xfrm xmlns:a="http://schemas.openxmlformats.org/drawingml/2006/main">
            <a:off x="800100" y="1619250"/>
            <a:ext cx="285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E8752E"/>
                </a:solidFill>
                <a:latin typeface="Arial"/>
                <a:ea typeface="Arial"/>
                <a:cs typeface="Arial"/>
              </a:defRPr>
            </a:defPPr>
            <a:lvl1pPr algn="l">
              <a:defRPr sz="4950" b="1">
                <a:solidFill>
                  <a:srgbClr val="E8752E"/>
                </a:solidFill>
                <a:latin typeface="Arial"/>
                <a:ea typeface="Arial"/>
                <a:cs typeface="Arial"/>
              </a:defRPr>
            </a:lvl1pPr>
            <a:lvl2pPr algn="l">
              <a:defRPr sz="4950" b="1">
                <a:solidFill>
                  <a:srgbClr val="E8752E"/>
                </a:solidFill>
                <a:latin typeface="Arial"/>
                <a:ea typeface="Arial"/>
                <a:cs typeface="Arial"/>
              </a:defRPr>
            </a:lvl2pPr>
            <a:lvl3pPr algn="l">
              <a:defRPr sz="4950" b="1">
                <a:solidFill>
                  <a:srgbClr val="E8752E"/>
                </a:solidFill>
                <a:latin typeface="Arial"/>
                <a:ea typeface="Arial"/>
                <a:cs typeface="Arial"/>
              </a:defRPr>
            </a:lvl3pPr>
            <a:lvl4pPr algn="l">
              <a:defRPr sz="4950" b="1">
                <a:solidFill>
                  <a:srgbClr val="E8752E"/>
                </a:solidFill>
                <a:latin typeface="Arial"/>
                <a:ea typeface="Arial"/>
                <a:cs typeface="Arial"/>
              </a:defRPr>
            </a:lvl4pPr>
            <a:lvl5pPr algn="l">
              <a:defRPr sz="4950" b="1">
                <a:solidFill>
                  <a:srgbClr val="E8752E"/>
                </a:solidFill>
                <a:latin typeface="Arial"/>
                <a:ea typeface="Arial"/>
                <a:cs typeface="Arial"/>
              </a:defRPr>
            </a:lvl5pPr>
            <a:lvl6pPr algn="l">
              <a:defRPr sz="4950" b="1">
                <a:solidFill>
                  <a:srgbClr val="E8752E"/>
                </a:solidFill>
                <a:latin typeface="Arial"/>
                <a:ea typeface="Arial"/>
                <a:cs typeface="Arial"/>
              </a:defRPr>
            </a:lvl6pPr>
            <a:lvl7pPr algn="l">
              <a:defRPr sz="4950" b="1">
                <a:solidFill>
                  <a:srgbClr val="E8752E"/>
                </a:solidFill>
                <a:latin typeface="Arial"/>
                <a:ea typeface="Arial"/>
                <a:cs typeface="Arial"/>
              </a:defRPr>
            </a:lvl7pPr>
            <a:lvl8pPr algn="l">
              <a:defRPr sz="4950" b="1">
                <a:solidFill>
                  <a:srgbClr val="E8752E"/>
                </a:solidFill>
                <a:latin typeface="Arial"/>
                <a:ea typeface="Arial"/>
                <a:cs typeface="Arial"/>
              </a:defRPr>
            </a:lvl8pPr>
            <a:lvl9pPr algn="l">
              <a:defRPr sz="4950" b="1">
                <a:solidFill>
                  <a:srgbClr val="E8752E"/>
                </a:solidFill>
                <a:latin typeface="Arial"/>
                <a:ea typeface="Arial"/>
                <a:cs typeface="Arial"/>
              </a:defRPr>
            </a:lvl9pPr>
          </a:lstStyle>
          <a:p xmlns:a="http://schemas.openxmlformats.org/drawingml/2006/main">
            <a:pPr algn="l">
              <a:defRPr sz="4950" b="1">
                <a:solidFill>
                  <a:srgbClr val="E8752E"/>
                </a:solidFill>
                <a:latin typeface="Arial"/>
                <a:ea typeface="Arial"/>
                <a:cs typeface="Arial"/>
              </a:defRPr>
            </a:pPr>
            <a:r>
              <a:rPr sz="4950" b="1">
                <a:solidFill>
                  <a:srgbClr val="E8752E"/>
                </a:solidFill>
                <a:latin typeface="Arial"/>
                <a:ea typeface="Arial"/>
                <a:cs typeface="Arial"/>
              </a:rPr>
              <a:t>19 / 25</a:t>
            </a:r>
          </a:p>
        </p:txBody>
      </p:sp>
      <p:sp>
        <p:nvSpPr>
          <p:cNvPr id="3" name="filled-label">
            <a:extLst xmlns:a="http://schemas.openxmlformats.org/drawingml/2006/main">
              <a:ext uri="{FF2B5EF4-FFF2-40B4-BE49-F238E27FC236}">
                <a16:creationId xmlns:a16="http://schemas.microsoft.com/office/drawing/2014/main" id="{175B967A-4E28-4068-9329-35BD32E6F69E}"/>
              </a:ext>
            </a:extLst>
          </p:cNvPr>
          <p:cNvSpPr>
            <a:spLocks xmlns:a="http://schemas.openxmlformats.org/drawingml/2006/main" noGrp="1"/>
          </p:cNvSpPr>
          <p:nvPr/>
        </p:nvSpPr>
        <p:spPr>
          <a:xfrm xmlns:a="http://schemas.openxmlformats.org/drawingml/2006/main">
            <a:off x="800100" y="2428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B6B6B"/>
                </a:solidFill>
                <a:latin typeface="Arial"/>
                <a:ea typeface="Arial"/>
                <a:cs typeface="Arial"/>
              </a:defRPr>
            </a:defPPr>
            <a:lvl1pPr algn="l">
              <a:defRPr sz="1725" b="0">
                <a:solidFill>
                  <a:srgbClr val="6B6B6B"/>
                </a:solidFill>
                <a:latin typeface="Arial"/>
                <a:ea typeface="Arial"/>
                <a:cs typeface="Arial"/>
              </a:defRPr>
            </a:lvl1pPr>
            <a:lvl2pPr algn="l">
              <a:defRPr sz="1725" b="0">
                <a:solidFill>
                  <a:srgbClr val="6B6B6B"/>
                </a:solidFill>
                <a:latin typeface="Arial"/>
                <a:ea typeface="Arial"/>
                <a:cs typeface="Arial"/>
              </a:defRPr>
            </a:lvl2pPr>
            <a:lvl3pPr algn="l">
              <a:defRPr sz="1725" b="0">
                <a:solidFill>
                  <a:srgbClr val="6B6B6B"/>
                </a:solidFill>
                <a:latin typeface="Arial"/>
                <a:ea typeface="Arial"/>
                <a:cs typeface="Arial"/>
              </a:defRPr>
            </a:lvl3pPr>
            <a:lvl4pPr algn="l">
              <a:defRPr sz="1725" b="0">
                <a:solidFill>
                  <a:srgbClr val="6B6B6B"/>
                </a:solidFill>
                <a:latin typeface="Arial"/>
                <a:ea typeface="Arial"/>
                <a:cs typeface="Arial"/>
              </a:defRPr>
            </a:lvl4pPr>
            <a:lvl5pPr algn="l">
              <a:defRPr sz="1725" b="0">
                <a:solidFill>
                  <a:srgbClr val="6B6B6B"/>
                </a:solidFill>
                <a:latin typeface="Arial"/>
                <a:ea typeface="Arial"/>
                <a:cs typeface="Arial"/>
              </a:defRPr>
            </a:lvl5pPr>
            <a:lvl6pPr algn="l">
              <a:defRPr sz="1725" b="0">
                <a:solidFill>
                  <a:srgbClr val="6B6B6B"/>
                </a:solidFill>
                <a:latin typeface="Arial"/>
                <a:ea typeface="Arial"/>
                <a:cs typeface="Arial"/>
              </a:defRPr>
            </a:lvl6pPr>
            <a:lvl7pPr algn="l">
              <a:defRPr sz="1725" b="0">
                <a:solidFill>
                  <a:srgbClr val="6B6B6B"/>
                </a:solidFill>
                <a:latin typeface="Arial"/>
                <a:ea typeface="Arial"/>
                <a:cs typeface="Arial"/>
              </a:defRPr>
            </a:lvl7pPr>
            <a:lvl8pPr algn="l">
              <a:defRPr sz="1725" b="0">
                <a:solidFill>
                  <a:srgbClr val="6B6B6B"/>
                </a:solidFill>
                <a:latin typeface="Arial"/>
                <a:ea typeface="Arial"/>
                <a:cs typeface="Arial"/>
              </a:defRPr>
            </a:lvl8pPr>
            <a:lvl9pPr algn="l">
              <a:defRPr sz="1725" b="0">
                <a:solidFill>
                  <a:srgbClr val="6B6B6B"/>
                </a:solidFill>
                <a:latin typeface="Arial"/>
                <a:ea typeface="Arial"/>
                <a:cs typeface="Arial"/>
              </a:defRPr>
            </a:lvl9pPr>
          </a:lstStyle>
          <a:p xmlns:a="http://schemas.openxmlformats.org/drawingml/2006/main">
            <a:pPr algn="l">
              <a:defRPr sz="1725" b="0">
                <a:solidFill>
                  <a:srgbClr val="6B6B6B"/>
                </a:solidFill>
                <a:latin typeface="Arial"/>
                <a:ea typeface="Arial"/>
                <a:cs typeface="Arial"/>
              </a:defRPr>
            </a:pPr>
            <a:r>
              <a:rPr sz="1725" b="0">
                <a:solidFill>
                  <a:srgbClr val="6B6B6B"/>
                </a:solidFill>
                <a:latin typeface="Arial"/>
                <a:ea typeface="Arial"/>
                <a:cs typeface="Arial"/>
              </a:rPr>
              <a:t>positions assigned</a:t>
            </a:r>
          </a:p>
        </p:txBody>
      </p:sp>
      <p:sp>
        <p:nvSpPr>
          <p:cNvPr id="4" name="coverage-metric">
            <a:extLst xmlns:a="http://schemas.openxmlformats.org/drawingml/2006/main">
              <a:ext uri="{FF2B5EF4-FFF2-40B4-BE49-F238E27FC236}">
                <a16:creationId xmlns:a16="http://schemas.microsoft.com/office/drawing/2014/main" id="{1BB75B5C-8582-4AB0-8E3E-CF919D82FB7F}"/>
              </a:ext>
            </a:extLst>
          </p:cNvPr>
          <p:cNvSpPr>
            <a:spLocks xmlns:a="http://schemas.openxmlformats.org/drawingml/2006/main" noGrp="1"/>
          </p:cNvSpPr>
          <p:nvPr/>
        </p:nvSpPr>
        <p:spPr>
          <a:xfrm xmlns:a="http://schemas.openxmlformats.org/drawingml/2006/main">
            <a:off x="4495800" y="1619250"/>
            <a:ext cx="2286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242424"/>
                </a:solidFill>
                <a:latin typeface="Arial"/>
                <a:ea typeface="Arial"/>
                <a:cs typeface="Arial"/>
              </a:defRPr>
            </a:defPPr>
            <a:lvl1pPr algn="l">
              <a:defRPr sz="4950" b="1">
                <a:solidFill>
                  <a:srgbClr val="242424"/>
                </a:solidFill>
                <a:latin typeface="Arial"/>
                <a:ea typeface="Arial"/>
                <a:cs typeface="Arial"/>
              </a:defRPr>
            </a:lvl1pPr>
            <a:lvl2pPr algn="l">
              <a:defRPr sz="4950" b="1">
                <a:solidFill>
                  <a:srgbClr val="242424"/>
                </a:solidFill>
                <a:latin typeface="Arial"/>
                <a:ea typeface="Arial"/>
                <a:cs typeface="Arial"/>
              </a:defRPr>
            </a:lvl2pPr>
            <a:lvl3pPr algn="l">
              <a:defRPr sz="4950" b="1">
                <a:solidFill>
                  <a:srgbClr val="242424"/>
                </a:solidFill>
                <a:latin typeface="Arial"/>
                <a:ea typeface="Arial"/>
                <a:cs typeface="Arial"/>
              </a:defRPr>
            </a:lvl3pPr>
            <a:lvl4pPr algn="l">
              <a:defRPr sz="4950" b="1">
                <a:solidFill>
                  <a:srgbClr val="242424"/>
                </a:solidFill>
                <a:latin typeface="Arial"/>
                <a:ea typeface="Arial"/>
                <a:cs typeface="Arial"/>
              </a:defRPr>
            </a:lvl4pPr>
            <a:lvl5pPr algn="l">
              <a:defRPr sz="4950" b="1">
                <a:solidFill>
                  <a:srgbClr val="242424"/>
                </a:solidFill>
                <a:latin typeface="Arial"/>
                <a:ea typeface="Arial"/>
                <a:cs typeface="Arial"/>
              </a:defRPr>
            </a:lvl5pPr>
            <a:lvl6pPr algn="l">
              <a:defRPr sz="4950" b="1">
                <a:solidFill>
                  <a:srgbClr val="242424"/>
                </a:solidFill>
                <a:latin typeface="Arial"/>
                <a:ea typeface="Arial"/>
                <a:cs typeface="Arial"/>
              </a:defRPr>
            </a:lvl6pPr>
            <a:lvl7pPr algn="l">
              <a:defRPr sz="4950" b="1">
                <a:solidFill>
                  <a:srgbClr val="242424"/>
                </a:solidFill>
                <a:latin typeface="Arial"/>
                <a:ea typeface="Arial"/>
                <a:cs typeface="Arial"/>
              </a:defRPr>
            </a:lvl7pPr>
            <a:lvl8pPr algn="l">
              <a:defRPr sz="4950" b="1">
                <a:solidFill>
                  <a:srgbClr val="242424"/>
                </a:solidFill>
                <a:latin typeface="Arial"/>
                <a:ea typeface="Arial"/>
                <a:cs typeface="Arial"/>
              </a:defRPr>
            </a:lvl8pPr>
            <a:lvl9pPr algn="l">
              <a:defRPr sz="4950" b="1">
                <a:solidFill>
                  <a:srgbClr val="242424"/>
                </a:solidFill>
                <a:latin typeface="Arial"/>
                <a:ea typeface="Arial"/>
                <a:cs typeface="Arial"/>
              </a:defRPr>
            </a:lvl9pPr>
          </a:lstStyle>
          <a:p xmlns:a="http://schemas.openxmlformats.org/drawingml/2006/main">
            <a:pPr algn="l">
              <a:defRPr sz="4950" b="1">
                <a:solidFill>
                  <a:srgbClr val="242424"/>
                </a:solidFill>
                <a:latin typeface="Arial"/>
                <a:ea typeface="Arial"/>
                <a:cs typeface="Arial"/>
              </a:defRPr>
            </a:pPr>
            <a:r>
              <a:rPr sz="4950" b="1">
                <a:solidFill>
                  <a:srgbClr val="242424"/>
                </a:solidFill>
                <a:latin typeface="Arial"/>
                <a:ea typeface="Arial"/>
                <a:cs typeface="Arial"/>
              </a:rPr>
              <a:t>76%</a:t>
            </a:r>
          </a:p>
        </p:txBody>
      </p:sp>
      <p:sp>
        <p:nvSpPr>
          <p:cNvPr id="5" name="coverage-label">
            <a:extLst xmlns:a="http://schemas.openxmlformats.org/drawingml/2006/main">
              <a:ext uri="{FF2B5EF4-FFF2-40B4-BE49-F238E27FC236}">
                <a16:creationId xmlns:a16="http://schemas.microsoft.com/office/drawing/2014/main" id="{ADA3CE0F-EDDF-45BE-96F1-0C811FFCBFA9}"/>
              </a:ext>
            </a:extLst>
          </p:cNvPr>
          <p:cNvSpPr>
            <a:spLocks xmlns:a="http://schemas.openxmlformats.org/drawingml/2006/main" noGrp="1"/>
          </p:cNvSpPr>
          <p:nvPr/>
        </p:nvSpPr>
        <p:spPr>
          <a:xfrm xmlns:a="http://schemas.openxmlformats.org/drawingml/2006/main">
            <a:off x="4495800" y="2428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B6B6B"/>
                </a:solidFill>
                <a:latin typeface="Arial"/>
                <a:ea typeface="Arial"/>
                <a:cs typeface="Arial"/>
              </a:defRPr>
            </a:defPPr>
            <a:lvl1pPr algn="l">
              <a:defRPr sz="1725" b="0">
                <a:solidFill>
                  <a:srgbClr val="6B6B6B"/>
                </a:solidFill>
                <a:latin typeface="Arial"/>
                <a:ea typeface="Arial"/>
                <a:cs typeface="Arial"/>
              </a:defRPr>
            </a:lvl1pPr>
            <a:lvl2pPr algn="l">
              <a:defRPr sz="1725" b="0">
                <a:solidFill>
                  <a:srgbClr val="6B6B6B"/>
                </a:solidFill>
                <a:latin typeface="Arial"/>
                <a:ea typeface="Arial"/>
                <a:cs typeface="Arial"/>
              </a:defRPr>
            </a:lvl2pPr>
            <a:lvl3pPr algn="l">
              <a:defRPr sz="1725" b="0">
                <a:solidFill>
                  <a:srgbClr val="6B6B6B"/>
                </a:solidFill>
                <a:latin typeface="Arial"/>
                <a:ea typeface="Arial"/>
                <a:cs typeface="Arial"/>
              </a:defRPr>
            </a:lvl3pPr>
            <a:lvl4pPr algn="l">
              <a:defRPr sz="1725" b="0">
                <a:solidFill>
                  <a:srgbClr val="6B6B6B"/>
                </a:solidFill>
                <a:latin typeface="Arial"/>
                <a:ea typeface="Arial"/>
                <a:cs typeface="Arial"/>
              </a:defRPr>
            </a:lvl4pPr>
            <a:lvl5pPr algn="l">
              <a:defRPr sz="1725" b="0">
                <a:solidFill>
                  <a:srgbClr val="6B6B6B"/>
                </a:solidFill>
                <a:latin typeface="Arial"/>
                <a:ea typeface="Arial"/>
                <a:cs typeface="Arial"/>
              </a:defRPr>
            </a:lvl5pPr>
            <a:lvl6pPr algn="l">
              <a:defRPr sz="1725" b="0">
                <a:solidFill>
                  <a:srgbClr val="6B6B6B"/>
                </a:solidFill>
                <a:latin typeface="Arial"/>
                <a:ea typeface="Arial"/>
                <a:cs typeface="Arial"/>
              </a:defRPr>
            </a:lvl6pPr>
            <a:lvl7pPr algn="l">
              <a:defRPr sz="1725" b="0">
                <a:solidFill>
                  <a:srgbClr val="6B6B6B"/>
                </a:solidFill>
                <a:latin typeface="Arial"/>
                <a:ea typeface="Arial"/>
                <a:cs typeface="Arial"/>
              </a:defRPr>
            </a:lvl7pPr>
            <a:lvl8pPr algn="l">
              <a:defRPr sz="1725" b="0">
                <a:solidFill>
                  <a:srgbClr val="6B6B6B"/>
                </a:solidFill>
                <a:latin typeface="Arial"/>
                <a:ea typeface="Arial"/>
                <a:cs typeface="Arial"/>
              </a:defRPr>
            </a:lvl8pPr>
            <a:lvl9pPr algn="l">
              <a:defRPr sz="1725" b="0">
                <a:solidFill>
                  <a:srgbClr val="6B6B6B"/>
                </a:solidFill>
                <a:latin typeface="Arial"/>
                <a:ea typeface="Arial"/>
                <a:cs typeface="Arial"/>
              </a:defRPr>
            </a:lvl9pPr>
          </a:lstStyle>
          <a:p xmlns:a="http://schemas.openxmlformats.org/drawingml/2006/main">
            <a:pPr algn="l">
              <a:defRPr sz="1725" b="0">
                <a:solidFill>
                  <a:srgbClr val="6B6B6B"/>
                </a:solidFill>
                <a:latin typeface="Arial"/>
                <a:ea typeface="Arial"/>
                <a:cs typeface="Arial"/>
              </a:defRPr>
            </a:pPr>
            <a:r>
              <a:rPr sz="1725" b="0">
                <a:solidFill>
                  <a:srgbClr val="6B6B6B"/>
                </a:solidFill>
                <a:latin typeface="Arial"/>
                <a:ea typeface="Arial"/>
                <a:cs typeface="Arial"/>
              </a:rPr>
              <a:t>overall coverage</a:t>
            </a:r>
          </a:p>
        </p:txBody>
      </p:sp>
      <p:sp>
        <p:nvSpPr>
          <p:cNvPr id="6" name="unassigned-metric">
            <a:extLst xmlns:a="http://schemas.openxmlformats.org/drawingml/2006/main">
              <a:ext uri="{FF2B5EF4-FFF2-40B4-BE49-F238E27FC236}">
                <a16:creationId xmlns:a16="http://schemas.microsoft.com/office/drawing/2014/main" id="{B5285C88-7C47-4C77-8028-EA8A55DAEC0F}"/>
              </a:ext>
            </a:extLst>
          </p:cNvPr>
          <p:cNvSpPr>
            <a:spLocks xmlns:a="http://schemas.openxmlformats.org/drawingml/2006/main" noGrp="1"/>
          </p:cNvSpPr>
          <p:nvPr/>
        </p:nvSpPr>
        <p:spPr>
          <a:xfrm xmlns:a="http://schemas.openxmlformats.org/drawingml/2006/main">
            <a:off x="8096250" y="1619250"/>
            <a:ext cx="171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242424"/>
                </a:solidFill>
                <a:latin typeface="Arial"/>
                <a:ea typeface="Arial"/>
                <a:cs typeface="Arial"/>
              </a:defRPr>
            </a:defPPr>
            <a:lvl1pPr algn="l">
              <a:defRPr sz="4950" b="1">
                <a:solidFill>
                  <a:srgbClr val="242424"/>
                </a:solidFill>
                <a:latin typeface="Arial"/>
                <a:ea typeface="Arial"/>
                <a:cs typeface="Arial"/>
              </a:defRPr>
            </a:lvl1pPr>
            <a:lvl2pPr algn="l">
              <a:defRPr sz="4950" b="1">
                <a:solidFill>
                  <a:srgbClr val="242424"/>
                </a:solidFill>
                <a:latin typeface="Arial"/>
                <a:ea typeface="Arial"/>
                <a:cs typeface="Arial"/>
              </a:defRPr>
            </a:lvl2pPr>
            <a:lvl3pPr algn="l">
              <a:defRPr sz="4950" b="1">
                <a:solidFill>
                  <a:srgbClr val="242424"/>
                </a:solidFill>
                <a:latin typeface="Arial"/>
                <a:ea typeface="Arial"/>
                <a:cs typeface="Arial"/>
              </a:defRPr>
            </a:lvl3pPr>
            <a:lvl4pPr algn="l">
              <a:defRPr sz="4950" b="1">
                <a:solidFill>
                  <a:srgbClr val="242424"/>
                </a:solidFill>
                <a:latin typeface="Arial"/>
                <a:ea typeface="Arial"/>
                <a:cs typeface="Arial"/>
              </a:defRPr>
            </a:lvl4pPr>
            <a:lvl5pPr algn="l">
              <a:defRPr sz="4950" b="1">
                <a:solidFill>
                  <a:srgbClr val="242424"/>
                </a:solidFill>
                <a:latin typeface="Arial"/>
                <a:ea typeface="Arial"/>
                <a:cs typeface="Arial"/>
              </a:defRPr>
            </a:lvl5pPr>
            <a:lvl6pPr algn="l">
              <a:defRPr sz="4950" b="1">
                <a:solidFill>
                  <a:srgbClr val="242424"/>
                </a:solidFill>
                <a:latin typeface="Arial"/>
                <a:ea typeface="Arial"/>
                <a:cs typeface="Arial"/>
              </a:defRPr>
            </a:lvl6pPr>
            <a:lvl7pPr algn="l">
              <a:defRPr sz="4950" b="1">
                <a:solidFill>
                  <a:srgbClr val="242424"/>
                </a:solidFill>
                <a:latin typeface="Arial"/>
                <a:ea typeface="Arial"/>
                <a:cs typeface="Arial"/>
              </a:defRPr>
            </a:lvl7pPr>
            <a:lvl8pPr algn="l">
              <a:defRPr sz="4950" b="1">
                <a:solidFill>
                  <a:srgbClr val="242424"/>
                </a:solidFill>
                <a:latin typeface="Arial"/>
                <a:ea typeface="Arial"/>
                <a:cs typeface="Arial"/>
              </a:defRPr>
            </a:lvl8pPr>
            <a:lvl9pPr algn="l">
              <a:defRPr sz="4950" b="1">
                <a:solidFill>
                  <a:srgbClr val="242424"/>
                </a:solidFill>
                <a:latin typeface="Arial"/>
                <a:ea typeface="Arial"/>
                <a:cs typeface="Arial"/>
              </a:defRPr>
            </a:lvl9pPr>
          </a:lstStyle>
          <a:p xmlns:a="http://schemas.openxmlformats.org/drawingml/2006/main">
            <a:pPr algn="l">
              <a:defRPr sz="4950" b="1">
                <a:solidFill>
                  <a:srgbClr val="242424"/>
                </a:solidFill>
                <a:latin typeface="Arial"/>
                <a:ea typeface="Arial"/>
                <a:cs typeface="Arial"/>
              </a:defRPr>
            </a:pPr>
            <a:r>
              <a:rPr sz="4950" b="1">
                <a:solidFill>
                  <a:srgbClr val="242424"/>
                </a:solidFill>
                <a:latin typeface="Arial"/>
                <a:ea typeface="Arial"/>
                <a:cs typeface="Arial"/>
              </a:rPr>
              <a:t>82</a:t>
            </a:r>
          </a:p>
        </p:txBody>
      </p:sp>
      <p:sp>
        <p:nvSpPr>
          <p:cNvPr id="7" name="unassigned-label">
            <a:extLst xmlns:a="http://schemas.openxmlformats.org/drawingml/2006/main">
              <a:ext uri="{FF2B5EF4-FFF2-40B4-BE49-F238E27FC236}">
                <a16:creationId xmlns:a16="http://schemas.microsoft.com/office/drawing/2014/main" id="{DF061115-681C-4499-98DD-61F46C2882B7}"/>
              </a:ext>
            </a:extLst>
          </p:cNvPr>
          <p:cNvSpPr>
            <a:spLocks xmlns:a="http://schemas.openxmlformats.org/drawingml/2006/main" noGrp="1"/>
          </p:cNvSpPr>
          <p:nvPr/>
        </p:nvSpPr>
        <p:spPr>
          <a:xfrm xmlns:a="http://schemas.openxmlformats.org/drawingml/2006/main">
            <a:off x="8096250" y="2428875"/>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B6B6B"/>
                </a:solidFill>
                <a:latin typeface="Arial"/>
                <a:ea typeface="Arial"/>
                <a:cs typeface="Arial"/>
              </a:defRPr>
            </a:defPPr>
            <a:lvl1pPr algn="l">
              <a:defRPr sz="1725" b="0">
                <a:solidFill>
                  <a:srgbClr val="6B6B6B"/>
                </a:solidFill>
                <a:latin typeface="Arial"/>
                <a:ea typeface="Arial"/>
                <a:cs typeface="Arial"/>
              </a:defRPr>
            </a:lvl1pPr>
            <a:lvl2pPr algn="l">
              <a:defRPr sz="1725" b="0">
                <a:solidFill>
                  <a:srgbClr val="6B6B6B"/>
                </a:solidFill>
                <a:latin typeface="Arial"/>
                <a:ea typeface="Arial"/>
                <a:cs typeface="Arial"/>
              </a:defRPr>
            </a:lvl2pPr>
            <a:lvl3pPr algn="l">
              <a:defRPr sz="1725" b="0">
                <a:solidFill>
                  <a:srgbClr val="6B6B6B"/>
                </a:solidFill>
                <a:latin typeface="Arial"/>
                <a:ea typeface="Arial"/>
                <a:cs typeface="Arial"/>
              </a:defRPr>
            </a:lvl3pPr>
            <a:lvl4pPr algn="l">
              <a:defRPr sz="1725" b="0">
                <a:solidFill>
                  <a:srgbClr val="6B6B6B"/>
                </a:solidFill>
                <a:latin typeface="Arial"/>
                <a:ea typeface="Arial"/>
                <a:cs typeface="Arial"/>
              </a:defRPr>
            </a:lvl4pPr>
            <a:lvl5pPr algn="l">
              <a:defRPr sz="1725" b="0">
                <a:solidFill>
                  <a:srgbClr val="6B6B6B"/>
                </a:solidFill>
                <a:latin typeface="Arial"/>
                <a:ea typeface="Arial"/>
                <a:cs typeface="Arial"/>
              </a:defRPr>
            </a:lvl5pPr>
            <a:lvl6pPr algn="l">
              <a:defRPr sz="1725" b="0">
                <a:solidFill>
                  <a:srgbClr val="6B6B6B"/>
                </a:solidFill>
                <a:latin typeface="Arial"/>
                <a:ea typeface="Arial"/>
                <a:cs typeface="Arial"/>
              </a:defRPr>
            </a:lvl6pPr>
            <a:lvl7pPr algn="l">
              <a:defRPr sz="1725" b="0">
                <a:solidFill>
                  <a:srgbClr val="6B6B6B"/>
                </a:solidFill>
                <a:latin typeface="Arial"/>
                <a:ea typeface="Arial"/>
                <a:cs typeface="Arial"/>
              </a:defRPr>
            </a:lvl7pPr>
            <a:lvl8pPr algn="l">
              <a:defRPr sz="1725" b="0">
                <a:solidFill>
                  <a:srgbClr val="6B6B6B"/>
                </a:solidFill>
                <a:latin typeface="Arial"/>
                <a:ea typeface="Arial"/>
                <a:cs typeface="Arial"/>
              </a:defRPr>
            </a:lvl8pPr>
            <a:lvl9pPr algn="l">
              <a:defRPr sz="1725" b="0">
                <a:solidFill>
                  <a:srgbClr val="6B6B6B"/>
                </a:solidFill>
                <a:latin typeface="Arial"/>
                <a:ea typeface="Arial"/>
                <a:cs typeface="Arial"/>
              </a:defRPr>
            </a:lvl9pPr>
          </a:lstStyle>
          <a:p xmlns:a="http://schemas.openxmlformats.org/drawingml/2006/main">
            <a:pPr algn="l">
              <a:defRPr sz="1725" b="0">
                <a:solidFill>
                  <a:srgbClr val="6B6B6B"/>
                </a:solidFill>
                <a:latin typeface="Arial"/>
                <a:ea typeface="Arial"/>
                <a:cs typeface="Arial"/>
              </a:defRPr>
            </a:pPr>
            <a:r>
              <a:rPr sz="1725" b="0">
                <a:solidFill>
                  <a:srgbClr val="6B6B6B"/>
                </a:solidFill>
                <a:latin typeface="Arial"/>
                <a:ea typeface="Arial"/>
                <a:cs typeface="Arial"/>
              </a:rPr>
              <a:t>active volunteers unassigned</a:t>
            </a:r>
          </a:p>
        </p:txBody>
      </p:sp>
      <p:graphicFrame>
        <p:nvGraphicFramePr>
          <p:cNvPr id="8" name="Chart">
            <a:extLst xmlns:a="http://schemas.openxmlformats.org/drawingml/2006/main">
              <a:ext uri="{FF2B5EF4-FFF2-40B4-BE49-F238E27FC236}">
                <a16:creationId xmlns:a16="http://schemas.microsoft.com/office/drawing/2014/main" id="{B973CC6E-33E7-4B14-85C5-2E36951ECDC7}"/>
              </a:ext>
            </a:extLst>
          </p:cNvPr>
          <p:cNvGraphicFramePr/>
          <p:nvPr/>
        </p:nvGraphicFramePr>
        <p:xfrm>
          <a:off xmlns:a="http://schemas.openxmlformats.org/drawingml/2006/main" x="742950" y="3314700"/>
          <a:ext xmlns:a="http://schemas.openxmlformats.org/drawingml/2006/main" cx="10572750" cy="2476500"/>
        </p:xfrm>
        <a:graphic xmlns:a="http://schemas.openxmlformats.org/drawingml/2006/main">
          <a:graphicData uri="http://schemas.openxmlformats.org/drawingml/2006/chart">
            <c:chart xmlns:r="http://schemas.openxmlformats.org/officeDocument/2006/relationships" xmlns:c="http://schemas.openxmlformats.org/drawingml/2006/chart" r:id="Rd4954b44ce394086"/>
          </a:graphicData>
        </a:graphic>
      </p:graphicFrame>
    </p:spTree>
    <p:extLst>
      <p:ext uri="{BB962C8B-B14F-4D97-AF65-F5344CB8AC3E}">
        <p14:creationId xmlns:p14="http://schemas.microsoft.com/office/powerpoint/2010/main" val="18695483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9313E834-C88C-47EE-8A10-77EA94F91C57}"/>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Greedy and ILP fill the same number in this run</a:t>
            </a:r>
          </a:p>
        </p:txBody>
      </p:sp>
      <p:sp>
        <p:nvSpPr>
          <p:cNvPr id="2" name="comparison-subtitle">
            <a:extLst xmlns:a="http://schemas.openxmlformats.org/drawingml/2006/main">
              <a:ext uri="{FF2B5EF4-FFF2-40B4-BE49-F238E27FC236}">
                <a16:creationId xmlns:a16="http://schemas.microsoft.com/office/drawing/2014/main" id="{537A1D96-35BA-414F-A328-2A4115DC5C91}"/>
              </a:ext>
            </a:extLst>
          </p:cNvPr>
          <p:cNvSpPr>
            <a:spLocks xmlns:a="http://schemas.openxmlformats.org/drawingml/2006/main" noGrp="1"/>
          </p:cNvSpPr>
          <p:nvPr/>
        </p:nvSpPr>
        <p:spPr>
          <a:xfrm xmlns:a="http://schemas.openxmlformats.org/drawingml/2006/main">
            <a:off x="781050" y="14287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6B6B6B"/>
                </a:solidFill>
                <a:latin typeface="Arial"/>
                <a:ea typeface="Arial"/>
                <a:cs typeface="Arial"/>
              </a:defRPr>
            </a:defPPr>
            <a:lvl1pPr algn="l">
              <a:defRPr sz="1875" b="0">
                <a:solidFill>
                  <a:srgbClr val="6B6B6B"/>
                </a:solidFill>
                <a:latin typeface="Arial"/>
                <a:ea typeface="Arial"/>
                <a:cs typeface="Arial"/>
              </a:defRPr>
            </a:lvl1pPr>
            <a:lvl2pPr algn="l">
              <a:defRPr sz="1875" b="0">
                <a:solidFill>
                  <a:srgbClr val="6B6B6B"/>
                </a:solidFill>
                <a:latin typeface="Arial"/>
                <a:ea typeface="Arial"/>
                <a:cs typeface="Arial"/>
              </a:defRPr>
            </a:lvl2pPr>
            <a:lvl3pPr algn="l">
              <a:defRPr sz="1875" b="0">
                <a:solidFill>
                  <a:srgbClr val="6B6B6B"/>
                </a:solidFill>
                <a:latin typeface="Arial"/>
                <a:ea typeface="Arial"/>
                <a:cs typeface="Arial"/>
              </a:defRPr>
            </a:lvl3pPr>
            <a:lvl4pPr algn="l">
              <a:defRPr sz="1875" b="0">
                <a:solidFill>
                  <a:srgbClr val="6B6B6B"/>
                </a:solidFill>
                <a:latin typeface="Arial"/>
                <a:ea typeface="Arial"/>
                <a:cs typeface="Arial"/>
              </a:defRPr>
            </a:lvl4pPr>
            <a:lvl5pPr algn="l">
              <a:defRPr sz="1875" b="0">
                <a:solidFill>
                  <a:srgbClr val="6B6B6B"/>
                </a:solidFill>
                <a:latin typeface="Arial"/>
                <a:ea typeface="Arial"/>
                <a:cs typeface="Arial"/>
              </a:defRPr>
            </a:lvl5pPr>
            <a:lvl6pPr algn="l">
              <a:defRPr sz="1875" b="0">
                <a:solidFill>
                  <a:srgbClr val="6B6B6B"/>
                </a:solidFill>
                <a:latin typeface="Arial"/>
                <a:ea typeface="Arial"/>
                <a:cs typeface="Arial"/>
              </a:defRPr>
            </a:lvl6pPr>
            <a:lvl7pPr algn="l">
              <a:defRPr sz="1875" b="0">
                <a:solidFill>
                  <a:srgbClr val="6B6B6B"/>
                </a:solidFill>
                <a:latin typeface="Arial"/>
                <a:ea typeface="Arial"/>
                <a:cs typeface="Arial"/>
              </a:defRPr>
            </a:lvl7pPr>
            <a:lvl8pPr algn="l">
              <a:defRPr sz="1875" b="0">
                <a:solidFill>
                  <a:srgbClr val="6B6B6B"/>
                </a:solidFill>
                <a:latin typeface="Arial"/>
                <a:ea typeface="Arial"/>
                <a:cs typeface="Arial"/>
              </a:defRPr>
            </a:lvl8pPr>
            <a:lvl9pPr algn="l">
              <a:defRPr sz="1875" b="0">
                <a:solidFill>
                  <a:srgbClr val="6B6B6B"/>
                </a:solidFill>
                <a:latin typeface="Arial"/>
                <a:ea typeface="Arial"/>
                <a:cs typeface="Arial"/>
              </a:defRPr>
            </a:lvl9pPr>
          </a:lstStyle>
          <a:p xmlns:a="http://schemas.openxmlformats.org/drawingml/2006/main">
            <a:pPr algn="l">
              <a:defRPr sz="1875" b="0">
                <a:solidFill>
                  <a:srgbClr val="6B6B6B"/>
                </a:solidFill>
                <a:latin typeface="Arial"/>
                <a:ea typeface="Arial"/>
                <a:cs typeface="Arial"/>
              </a:defRPr>
            </a:pPr>
            <a:r>
              <a:rPr sz="1875" b="0">
                <a:solidFill>
                  <a:srgbClr val="6B6B6B"/>
                </a:solidFill>
                <a:latin typeface="Arial"/>
                <a:ea typeface="Arial"/>
                <a:cs typeface="Arial"/>
              </a:rPr>
              <a:t>Both methods use the current requirements and the same hard eligibility checks.</a:t>
            </a:r>
          </a:p>
        </p:txBody>
      </p:sp>
      <p:graphicFrame>
        <p:nvGraphicFramePr>
          <p:cNvPr id="3" name="">
            <a:extLst xmlns:a="http://schemas.openxmlformats.org/drawingml/2006/main">
              <a:ext uri="{FF2B5EF4-FFF2-40B4-BE49-F238E27FC236}">
                <a16:creationId xmlns:a16="http://schemas.microsoft.com/office/drawing/2014/main" id="{6C354FF0-DE9A-47A4-9307-0B9A42B01E43}"/>
              </a:ext>
            </a:extLst>
          </p:cNvPr>
          <p:cNvGraphicFramePr/>
          <p:nvPr/>
        </p:nvGraphicFramePr>
        <p:xfrm>
          <a:off xmlns:a="http://schemas.openxmlformats.org/drawingml/2006/main" x="762000" y="2324100"/>
          <a:ext xmlns:a="http://schemas.openxmlformats.org/drawingml/2006/main" cx="10668000" cy="1657350"/>
        </p:xfrm>
        <a:graphic xmlns:a="http://schemas.openxmlformats.org/drawingml/2006/main">
          <a:graphicData uri="http://schemas.openxmlformats.org/drawingml/2006/table">
            <a:tbl>
              <a:tblPr/>
              <a:tblGrid>
                <a:gridCol w="2095500"/>
                <a:gridCol w="1571625"/>
                <a:gridCol w="1381125"/>
                <a:gridCol w="2667000"/>
                <a:gridCol w="2952750"/>
              </a:tblGrid>
              <a:tr h="495300">
                <a:tc>
                  <a:txBody>
                    <a:bodyPr wrap="square" lIns="114300" tIns="47625" rIns="114300" bIns="47625">
                      <a:normAutofit/>
                    </a:bodyPr>
                    <a:lstStyle/>
                    <a:p>
                      <a:pPr algn="l"/>
                      <a:r>
                        <a:rPr sz="1425" b="1">
                          <a:solidFill>
                            <a:srgbClr val="FFFFFF"/>
                          </a:solidFill>
                          <a:latin typeface="Arial"/>
                          <a:ea typeface="Arial"/>
                          <a:cs typeface="Arial"/>
                        </a:rPr>
                        <a:t>Method</a:t>
                      </a:r>
                    </a:p>
                  </a:txBody>
                  <a:tcPr marL="91440" marR="91440" marT="45720" marB="45720" anchor="ctr">
                    <a:lnL w="9525">
                      <a:solidFill>
                        <a:srgbClr val="E7E5E2"/>
                      </a:solidFill>
                      <a:prstDash val="solid"/>
                    </a:lnL>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Filled</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Coverage</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Top-two preferences</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Observed runtime</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r>
              <a:tr h="581025">
                <a:tc>
                  <a:txBody>
                    <a:bodyPr wrap="square" lIns="114300" tIns="47625" rIns="114300" bIns="47625">
                      <a:normAutofit/>
                    </a:bodyPr>
                    <a:lstStyle/>
                    <a:p>
                      <a:pPr algn="l"/>
                      <a:r>
                        <a:rPr sz="1650" b="1">
                          <a:solidFill>
                            <a:srgbClr val="242424"/>
                          </a:solidFill>
                          <a:latin typeface="Arial"/>
                          <a:ea typeface="Arial"/>
                          <a:cs typeface="Arial"/>
                        </a:rPr>
                        <a:t>Greedy baseline</a:t>
                      </a:r>
                    </a:p>
                  </a:txBody>
                  <a:tcPr marL="91440" marR="91440" marT="45720" marB="45720" anchor="ctr">
                    <a:lnL w="9525">
                      <a:solidFill>
                        <a:srgbClr val="E7E5E2"/>
                      </a:solidFill>
                      <a:prstDash val="solid"/>
                    </a:lnL>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19 / 25</a:t>
                      </a:r>
                    </a:p>
                  </a:txBody>
                  <a:tcPr marL="91440" marR="91440" marT="45720" marB="45720" anchor="ctr">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76%</a:t>
                      </a:r>
                    </a:p>
                  </a:txBody>
                  <a:tcPr marL="91440" marR="91440" marT="45720" marB="45720" anchor="ctr">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2 volunteers</a:t>
                      </a:r>
                    </a:p>
                  </a:txBody>
                  <a:tcPr marL="91440" marR="91440" marT="45720" marB="45720" anchor="ctr">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0.0062 seconds</a:t>
                      </a:r>
                    </a:p>
                  </a:txBody>
                  <a:tcPr marL="91440" marR="91440" marT="45720" marB="45720" anchor="ctr">
                    <a:lnR w="9525">
                      <a:solidFill>
                        <a:srgbClr val="E7E5E2"/>
                      </a:solidFill>
                      <a:prstDash val="solid"/>
                    </a:lnR>
                    <a:lnB w="9525">
                      <a:solidFill>
                        <a:srgbClr val="E7E5E2"/>
                      </a:solidFill>
                      <a:prstDash val="solid"/>
                    </a:lnB>
                    <a:solidFill>
                      <a:srgbClr val="FFFFFF"/>
                    </a:solidFill>
                  </a:tcPr>
                </a:tc>
              </a:tr>
              <a:tr h="581025">
                <a:tc>
                  <a:txBody>
                    <a:bodyPr wrap="square" lIns="114300" tIns="47625" rIns="114300" bIns="47625">
                      <a:normAutofit/>
                    </a:bodyPr>
                    <a:lstStyle/>
                    <a:p>
                      <a:pPr algn="l"/>
                      <a:r>
                        <a:rPr sz="1650" b="1">
                          <a:solidFill>
                            <a:srgbClr val="242424"/>
                          </a:solidFill>
                          <a:latin typeface="Arial"/>
                          <a:ea typeface="Arial"/>
                          <a:cs typeface="Arial"/>
                        </a:rPr>
                        <a:t>PuLP ILP</a:t>
                      </a:r>
                    </a:p>
                  </a:txBody>
                  <a:tcPr marL="91440" marR="91440" marT="45720" marB="45720" anchor="ctr">
                    <a:lnL w="9525">
                      <a:solidFill>
                        <a:srgbClr val="E7E5E2"/>
                      </a:solidFill>
                      <a:prstDash val="solid"/>
                    </a:lnL>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19 / 25</a:t>
                      </a:r>
                    </a:p>
                  </a:txBody>
                  <a:tcPr marL="91440" marR="91440" marT="45720" marB="45720" anchor="ctr">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76%</a:t>
                      </a:r>
                    </a:p>
                  </a:txBody>
                  <a:tcPr marL="91440" marR="91440" marT="45720" marB="45720" anchor="ctr">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1 volunteer</a:t>
                      </a:r>
                    </a:p>
                  </a:txBody>
                  <a:tcPr marL="91440" marR="91440" marT="45720" marB="45720" anchor="ctr">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0.168 seconds</a:t>
                      </a:r>
                    </a:p>
                  </a:txBody>
                  <a:tcPr marL="91440" marR="91440" marT="45720" marB="45720" anchor="ctr">
                    <a:lnR w="9525">
                      <a:solidFill>
                        <a:srgbClr val="E7E5E2"/>
                      </a:solidFill>
                      <a:prstDash val="solid"/>
                    </a:lnR>
                    <a:lnB w="9525">
                      <a:solidFill>
                        <a:srgbClr val="E7E5E2"/>
                      </a:solidFill>
                      <a:prstDash val="solid"/>
                    </a:lnB>
                    <a:solidFill>
                      <a:srgbClr val="F7F7F5"/>
                    </a:solidFill>
                  </a:tcPr>
                </a:tc>
              </a:tr>
            </a:tbl>
          </a:graphicData>
        </a:graphic>
      </p:graphicFrame>
      <p:sp>
        <p:nvSpPr>
          <p:cNvPr id="4" name="comparison-takeaway">
            <a:extLst xmlns:a="http://schemas.openxmlformats.org/drawingml/2006/main">
              <a:ext uri="{FF2B5EF4-FFF2-40B4-BE49-F238E27FC236}">
                <a16:creationId xmlns:a16="http://schemas.microsoft.com/office/drawing/2014/main" id="{DCE822D6-B552-4F35-8956-6E3C669A9909}"/>
              </a:ext>
            </a:extLst>
          </p:cNvPr>
          <p:cNvSpPr>
            <a:spLocks xmlns:a="http://schemas.openxmlformats.org/drawingml/2006/main" noGrp="1"/>
          </p:cNvSpPr>
          <p:nvPr/>
        </p:nvSpPr>
        <p:spPr>
          <a:xfrm xmlns:a="http://schemas.openxmlformats.org/drawingml/2006/main">
            <a:off x="781050" y="45529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42424"/>
                </a:solidFill>
                <a:latin typeface="Arial"/>
                <a:ea typeface="Arial"/>
                <a:cs typeface="Arial"/>
              </a:defRPr>
            </a:defPPr>
            <a:lvl1pPr algn="l">
              <a:defRPr sz="1875" b="1">
                <a:solidFill>
                  <a:srgbClr val="242424"/>
                </a:solidFill>
                <a:latin typeface="Arial"/>
                <a:ea typeface="Arial"/>
                <a:cs typeface="Arial"/>
              </a:defRPr>
            </a:lvl1pPr>
            <a:lvl2pPr algn="l">
              <a:defRPr sz="1875" b="1">
                <a:solidFill>
                  <a:srgbClr val="242424"/>
                </a:solidFill>
                <a:latin typeface="Arial"/>
                <a:ea typeface="Arial"/>
                <a:cs typeface="Arial"/>
              </a:defRPr>
            </a:lvl2pPr>
            <a:lvl3pPr algn="l">
              <a:defRPr sz="1875" b="1">
                <a:solidFill>
                  <a:srgbClr val="242424"/>
                </a:solidFill>
                <a:latin typeface="Arial"/>
                <a:ea typeface="Arial"/>
                <a:cs typeface="Arial"/>
              </a:defRPr>
            </a:lvl3pPr>
            <a:lvl4pPr algn="l">
              <a:defRPr sz="1875" b="1">
                <a:solidFill>
                  <a:srgbClr val="242424"/>
                </a:solidFill>
                <a:latin typeface="Arial"/>
                <a:ea typeface="Arial"/>
                <a:cs typeface="Arial"/>
              </a:defRPr>
            </a:lvl4pPr>
            <a:lvl5pPr algn="l">
              <a:defRPr sz="1875" b="1">
                <a:solidFill>
                  <a:srgbClr val="242424"/>
                </a:solidFill>
                <a:latin typeface="Arial"/>
                <a:ea typeface="Arial"/>
                <a:cs typeface="Arial"/>
              </a:defRPr>
            </a:lvl5pPr>
            <a:lvl6pPr algn="l">
              <a:defRPr sz="1875" b="1">
                <a:solidFill>
                  <a:srgbClr val="242424"/>
                </a:solidFill>
                <a:latin typeface="Arial"/>
                <a:ea typeface="Arial"/>
                <a:cs typeface="Arial"/>
              </a:defRPr>
            </a:lvl6pPr>
            <a:lvl7pPr algn="l">
              <a:defRPr sz="1875" b="1">
                <a:solidFill>
                  <a:srgbClr val="242424"/>
                </a:solidFill>
                <a:latin typeface="Arial"/>
                <a:ea typeface="Arial"/>
                <a:cs typeface="Arial"/>
              </a:defRPr>
            </a:lvl7pPr>
            <a:lvl8pPr algn="l">
              <a:defRPr sz="1875" b="1">
                <a:solidFill>
                  <a:srgbClr val="242424"/>
                </a:solidFill>
                <a:latin typeface="Arial"/>
                <a:ea typeface="Arial"/>
                <a:cs typeface="Arial"/>
              </a:defRPr>
            </a:lvl8pPr>
            <a:lvl9pPr algn="l">
              <a:defRPr sz="1875" b="1">
                <a:solidFill>
                  <a:srgbClr val="242424"/>
                </a:solidFill>
                <a:latin typeface="Arial"/>
                <a:ea typeface="Arial"/>
                <a:cs typeface="Arial"/>
              </a:defRPr>
            </a:lvl9pPr>
          </a:lstStyle>
          <a:p xmlns:a="http://schemas.openxmlformats.org/drawingml/2006/main">
            <a:pPr algn="l">
              <a:defRPr sz="1875" b="1">
                <a:solidFill>
                  <a:srgbClr val="242424"/>
                </a:solidFill>
                <a:latin typeface="Arial"/>
                <a:ea typeface="Arial"/>
                <a:cs typeface="Arial"/>
              </a:defRPr>
            </a:pPr>
            <a:r>
              <a:rPr sz="1875" b="1">
                <a:solidFill>
                  <a:srgbClr val="242424"/>
                </a:solidFill>
                <a:latin typeface="Arial"/>
                <a:ea typeface="Arial"/>
                <a:cs typeface="Arial"/>
              </a:rPr>
              <a:t>No fill gain under ILP in this run. Greedy matched one more top-two preference.</a:t>
            </a:r>
          </a:p>
        </p:txBody>
      </p:sp>
      <p:sp>
        <p:nvSpPr>
          <p:cNvPr id="5" name="comparison-caveat">
            <a:extLst xmlns:a="http://schemas.openxmlformats.org/drawingml/2006/main">
              <a:ext uri="{FF2B5EF4-FFF2-40B4-BE49-F238E27FC236}">
                <a16:creationId xmlns:a16="http://schemas.microsoft.com/office/drawing/2014/main" id="{4AC4FF20-E1D1-46F2-87A2-64B1179725ED}"/>
              </a:ext>
            </a:extLst>
          </p:cNvPr>
          <p:cNvSpPr>
            <a:spLocks xmlns:a="http://schemas.openxmlformats.org/drawingml/2006/main" noGrp="1"/>
          </p:cNvSpPr>
          <p:nvPr/>
        </p:nvSpPr>
        <p:spPr>
          <a:xfrm xmlns:a="http://schemas.openxmlformats.org/drawingml/2006/main">
            <a:off x="781050" y="5286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B6B6B"/>
                </a:solidFill>
                <a:latin typeface="Arial"/>
                <a:ea typeface="Arial"/>
                <a:cs typeface="Arial"/>
              </a:defRPr>
            </a:defPPr>
            <a:lvl1pPr algn="l">
              <a:defRPr sz="1575" b="0">
                <a:solidFill>
                  <a:srgbClr val="6B6B6B"/>
                </a:solidFill>
                <a:latin typeface="Arial"/>
                <a:ea typeface="Arial"/>
                <a:cs typeface="Arial"/>
              </a:defRPr>
            </a:lvl1pPr>
            <a:lvl2pPr algn="l">
              <a:defRPr sz="1575" b="0">
                <a:solidFill>
                  <a:srgbClr val="6B6B6B"/>
                </a:solidFill>
                <a:latin typeface="Arial"/>
                <a:ea typeface="Arial"/>
                <a:cs typeface="Arial"/>
              </a:defRPr>
            </a:lvl2pPr>
            <a:lvl3pPr algn="l">
              <a:defRPr sz="1575" b="0">
                <a:solidFill>
                  <a:srgbClr val="6B6B6B"/>
                </a:solidFill>
                <a:latin typeface="Arial"/>
                <a:ea typeface="Arial"/>
                <a:cs typeface="Arial"/>
              </a:defRPr>
            </a:lvl3pPr>
            <a:lvl4pPr algn="l">
              <a:defRPr sz="1575" b="0">
                <a:solidFill>
                  <a:srgbClr val="6B6B6B"/>
                </a:solidFill>
                <a:latin typeface="Arial"/>
                <a:ea typeface="Arial"/>
                <a:cs typeface="Arial"/>
              </a:defRPr>
            </a:lvl4pPr>
            <a:lvl5pPr algn="l">
              <a:defRPr sz="1575" b="0">
                <a:solidFill>
                  <a:srgbClr val="6B6B6B"/>
                </a:solidFill>
                <a:latin typeface="Arial"/>
                <a:ea typeface="Arial"/>
                <a:cs typeface="Arial"/>
              </a:defRPr>
            </a:lvl5pPr>
            <a:lvl6pPr algn="l">
              <a:defRPr sz="1575" b="0">
                <a:solidFill>
                  <a:srgbClr val="6B6B6B"/>
                </a:solidFill>
                <a:latin typeface="Arial"/>
                <a:ea typeface="Arial"/>
                <a:cs typeface="Arial"/>
              </a:defRPr>
            </a:lvl6pPr>
            <a:lvl7pPr algn="l">
              <a:defRPr sz="1575" b="0">
                <a:solidFill>
                  <a:srgbClr val="6B6B6B"/>
                </a:solidFill>
                <a:latin typeface="Arial"/>
                <a:ea typeface="Arial"/>
                <a:cs typeface="Arial"/>
              </a:defRPr>
            </a:lvl7pPr>
            <a:lvl8pPr algn="l">
              <a:defRPr sz="1575" b="0">
                <a:solidFill>
                  <a:srgbClr val="6B6B6B"/>
                </a:solidFill>
                <a:latin typeface="Arial"/>
                <a:ea typeface="Arial"/>
                <a:cs typeface="Arial"/>
              </a:defRPr>
            </a:lvl8pPr>
            <a:lvl9pPr algn="l">
              <a:defRPr sz="1575" b="0">
                <a:solidFill>
                  <a:srgbClr val="6B6B6B"/>
                </a:solidFill>
                <a:latin typeface="Arial"/>
                <a:ea typeface="Arial"/>
                <a:cs typeface="Arial"/>
              </a:defRPr>
            </a:lvl9pPr>
          </a:lstStyle>
          <a:p xmlns:a="http://schemas.openxmlformats.org/drawingml/2006/main">
            <a:pPr algn="l">
              <a:defRPr sz="1575" b="0">
                <a:solidFill>
                  <a:srgbClr val="6B6B6B"/>
                </a:solidFill>
                <a:latin typeface="Arial"/>
                <a:ea typeface="Arial"/>
                <a:cs typeface="Arial"/>
              </a:defRPr>
            </a:pPr>
            <a:r>
              <a:rPr sz="1575" b="0">
                <a:solidFill>
                  <a:srgbClr val="6B6B6B"/>
                </a:solidFill>
                <a:latin typeface="Arial"/>
                <a:ea typeface="Arial"/>
                <a:cs typeface="Arial"/>
              </a:rPr>
              <a:t>Runtime varies by request. These timings describe one live run, not a general speed guarantee.</a:t>
            </a:r>
          </a:p>
        </p:txBody>
      </p:sp>
    </p:spTree>
    <p:extLst>
      <p:ext uri="{BB962C8B-B14F-4D97-AF65-F5344CB8AC3E}">
        <p14:creationId xmlns:p14="http://schemas.microsoft.com/office/powerpoint/2010/main" val="7700934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9CB7B20B-2809-4A2F-AA0C-7B01CDA4A530}"/>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How the two methods make assignments</a:t>
            </a:r>
          </a:p>
        </p:txBody>
      </p:sp>
      <p:sp>
        <p:nvSpPr>
          <p:cNvPr id="2" name="greedy-heading">
            <a:extLst xmlns:a="http://schemas.openxmlformats.org/drawingml/2006/main">
              <a:ext uri="{FF2B5EF4-FFF2-40B4-BE49-F238E27FC236}">
                <a16:creationId xmlns:a16="http://schemas.microsoft.com/office/drawing/2014/main" id="{9B573897-9EEE-46A2-8D07-3E705A077AC3}"/>
              </a:ext>
            </a:extLst>
          </p:cNvPr>
          <p:cNvSpPr>
            <a:spLocks xmlns:a="http://schemas.openxmlformats.org/drawingml/2006/main" noGrp="1"/>
          </p:cNvSpPr>
          <p:nvPr/>
        </p:nvSpPr>
        <p:spPr>
          <a:xfrm xmlns:a="http://schemas.openxmlformats.org/drawingml/2006/main">
            <a:off x="781050" y="15811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Priority-first Greedy</a:t>
            </a:r>
          </a:p>
        </p:txBody>
      </p:sp>
      <p:sp>
        <p:nvSpPr>
          <p:cNvPr id="3" name="greedy-explanation">
            <a:extLst xmlns:a="http://schemas.openxmlformats.org/drawingml/2006/main">
              <a:ext uri="{FF2B5EF4-FFF2-40B4-BE49-F238E27FC236}">
                <a16:creationId xmlns:a16="http://schemas.microsoft.com/office/drawing/2014/main" id="{F96F3913-575E-4F35-B864-1648FB8D9FF3}"/>
              </a:ext>
            </a:extLst>
          </p:cNvPr>
          <p:cNvSpPr>
            <a:spLocks xmlns:a="http://schemas.openxmlformats.org/drawingml/2006/main" noGrp="1"/>
          </p:cNvSpPr>
          <p:nvPr/>
        </p:nvSpPr>
        <p:spPr>
          <a:xfrm xmlns:a="http://schemas.openxmlformats.org/drawingml/2006/main">
            <a:off x="781050" y="2114550"/>
            <a:ext cx="476250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Critical roles come first, then High, then Normal.</a:t>
            </a:r>
          </a:p>
          <a:p xmlns:a="http://schemas.openxmlformats.org/drawingml/2006/main">
            <a:r>
              <a:t/>
            </a:r>
          </a:p>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Within each tier, +10 per preferred-skill match. Department preference adds +15 / +10 / +5; experience adds +1 per year.</a:t>
            </a:r>
          </a:p>
          <a:p xmlns:a="http://schemas.openxmlformats.org/drawingml/2006/main">
            <a:r>
              <a:t/>
            </a:r>
          </a:p>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Clear and fast. Earlier choices can limit later matches.</a:t>
            </a:r>
          </a:p>
        </p:txBody>
      </p:sp>
      <p:sp>
        <p:nvSpPr>
          <p:cNvPr id="4" name="ilp-heading">
            <a:extLst xmlns:a="http://schemas.openxmlformats.org/drawingml/2006/main">
              <a:ext uri="{FF2B5EF4-FFF2-40B4-BE49-F238E27FC236}">
                <a16:creationId xmlns:a16="http://schemas.microsoft.com/office/drawing/2014/main" id="{51A63B8C-1F0F-44C5-9E73-A896DF1FE5CF}"/>
              </a:ext>
            </a:extLst>
          </p:cNvPr>
          <p:cNvSpPr>
            <a:spLocks xmlns:a="http://schemas.openxmlformats.org/drawingml/2006/main" noGrp="1"/>
          </p:cNvSpPr>
          <p:nvPr/>
        </p:nvSpPr>
        <p:spPr>
          <a:xfrm xmlns:a="http://schemas.openxmlformats.org/drawingml/2006/main">
            <a:off x="6400800" y="15811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PuLP ILP with CBC</a:t>
            </a:r>
          </a:p>
        </p:txBody>
      </p:sp>
      <p:sp>
        <p:nvSpPr>
          <p:cNvPr id="5" name="ilp-explanation">
            <a:extLst xmlns:a="http://schemas.openxmlformats.org/drawingml/2006/main">
              <a:ext uri="{FF2B5EF4-FFF2-40B4-BE49-F238E27FC236}">
                <a16:creationId xmlns:a16="http://schemas.microsoft.com/office/drawing/2014/main" id="{7F7A67BE-8865-4C8C-B809-ABB21AA543A1}"/>
              </a:ext>
            </a:extLst>
          </p:cNvPr>
          <p:cNvSpPr>
            <a:spLocks xmlns:a="http://schemas.openxmlformats.org/drawingml/2006/main" noGrp="1"/>
          </p:cNvSpPr>
          <p:nvPr/>
        </p:nvSpPr>
        <p:spPr>
          <a:xfrm xmlns:a="http://schemas.openxmlformats.org/drawingml/2006/main">
            <a:off x="6400800" y="2114550"/>
            <a:ext cx="495300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61"/>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 binary choice represents each eligible person and role slot.</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Per filled slot: +100 base; priority adds +50 / +25 / +10. Fit adds up to +10 for preferred skills, +8 / +4 / +2 for department preference, and +0.5 per experience year.</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At most one person per slot and one role per volunteer.</a:t>
            </a:r>
          </a:p>
        </p:txBody>
      </p:sp>
      <p:sp>
        <p:nvSpPr>
          <p:cNvPr id="6" name="eligibility-heading">
            <a:extLst xmlns:a="http://schemas.openxmlformats.org/drawingml/2006/main">
              <a:ext uri="{FF2B5EF4-FFF2-40B4-BE49-F238E27FC236}">
                <a16:creationId xmlns:a16="http://schemas.microsoft.com/office/drawing/2014/main" id="{14C517B5-C2EB-471E-8CEA-32BB22475D64}"/>
              </a:ext>
            </a:extLst>
          </p:cNvPr>
          <p:cNvSpPr>
            <a:spLocks xmlns:a="http://schemas.openxmlformats.org/drawingml/2006/main" noGrp="1"/>
          </p:cNvSpPr>
          <p:nvPr/>
        </p:nvSpPr>
        <p:spPr>
          <a:xfrm xmlns:a="http://schemas.openxmlformats.org/drawingml/2006/main">
            <a:off x="781050" y="46863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242424"/>
                </a:solidFill>
                <a:latin typeface="Arial"/>
                <a:ea typeface="Arial"/>
                <a:cs typeface="Arial"/>
              </a:defRPr>
            </a:defPPr>
            <a:lvl1pPr algn="l">
              <a:defRPr sz="1950" b="1">
                <a:solidFill>
                  <a:srgbClr val="242424"/>
                </a:solidFill>
                <a:latin typeface="Arial"/>
                <a:ea typeface="Arial"/>
                <a:cs typeface="Arial"/>
              </a:defRPr>
            </a:lvl1pPr>
            <a:lvl2pPr algn="l">
              <a:defRPr sz="1950" b="1">
                <a:solidFill>
                  <a:srgbClr val="242424"/>
                </a:solidFill>
                <a:latin typeface="Arial"/>
                <a:ea typeface="Arial"/>
                <a:cs typeface="Arial"/>
              </a:defRPr>
            </a:lvl2pPr>
            <a:lvl3pPr algn="l">
              <a:defRPr sz="1950" b="1">
                <a:solidFill>
                  <a:srgbClr val="242424"/>
                </a:solidFill>
                <a:latin typeface="Arial"/>
                <a:ea typeface="Arial"/>
                <a:cs typeface="Arial"/>
              </a:defRPr>
            </a:lvl3pPr>
            <a:lvl4pPr algn="l">
              <a:defRPr sz="1950" b="1">
                <a:solidFill>
                  <a:srgbClr val="242424"/>
                </a:solidFill>
                <a:latin typeface="Arial"/>
                <a:ea typeface="Arial"/>
                <a:cs typeface="Arial"/>
              </a:defRPr>
            </a:lvl4pPr>
            <a:lvl5pPr algn="l">
              <a:defRPr sz="1950" b="1">
                <a:solidFill>
                  <a:srgbClr val="242424"/>
                </a:solidFill>
                <a:latin typeface="Arial"/>
                <a:ea typeface="Arial"/>
                <a:cs typeface="Arial"/>
              </a:defRPr>
            </a:lvl5pPr>
            <a:lvl6pPr algn="l">
              <a:defRPr sz="1950" b="1">
                <a:solidFill>
                  <a:srgbClr val="242424"/>
                </a:solidFill>
                <a:latin typeface="Arial"/>
                <a:ea typeface="Arial"/>
                <a:cs typeface="Arial"/>
              </a:defRPr>
            </a:lvl6pPr>
            <a:lvl7pPr algn="l">
              <a:defRPr sz="1950" b="1">
                <a:solidFill>
                  <a:srgbClr val="242424"/>
                </a:solidFill>
                <a:latin typeface="Arial"/>
                <a:ea typeface="Arial"/>
                <a:cs typeface="Arial"/>
              </a:defRPr>
            </a:lvl7pPr>
            <a:lvl8pPr algn="l">
              <a:defRPr sz="1950" b="1">
                <a:solidFill>
                  <a:srgbClr val="242424"/>
                </a:solidFill>
                <a:latin typeface="Arial"/>
                <a:ea typeface="Arial"/>
                <a:cs typeface="Arial"/>
              </a:defRPr>
            </a:lvl8pPr>
            <a:lvl9pPr algn="l">
              <a:defRPr sz="1950" b="1">
                <a:solidFill>
                  <a:srgbClr val="242424"/>
                </a:solidFill>
                <a:latin typeface="Arial"/>
                <a:ea typeface="Arial"/>
                <a:cs typeface="Arial"/>
              </a:defRPr>
            </a:lvl9pPr>
          </a:lstStyle>
          <a:p xmlns:a="http://schemas.openxmlformats.org/drawingml/2006/main">
            <a:pPr algn="l">
              <a:defRPr sz="1950" b="1">
                <a:solidFill>
                  <a:srgbClr val="242424"/>
                </a:solidFill>
                <a:latin typeface="Arial"/>
                <a:ea typeface="Arial"/>
                <a:cs typeface="Arial"/>
              </a:defRPr>
            </a:pPr>
            <a:r>
              <a:rPr sz="1950" b="1">
                <a:solidFill>
                  <a:srgbClr val="242424"/>
                </a:solidFill>
                <a:latin typeface="Arial"/>
                <a:ea typeface="Arial"/>
                <a:cs typeface="Arial"/>
              </a:rPr>
              <a:t>Shared eligibility rules</a:t>
            </a:r>
          </a:p>
        </p:txBody>
      </p:sp>
      <p:sp>
        <p:nvSpPr>
          <p:cNvPr id="7" name="eligibility-copy">
            <a:extLst xmlns:a="http://schemas.openxmlformats.org/drawingml/2006/main">
              <a:ext uri="{FF2B5EF4-FFF2-40B4-BE49-F238E27FC236}">
                <a16:creationId xmlns:a16="http://schemas.microsoft.com/office/drawing/2014/main" id="{9BE92EC5-E208-434E-A209-D92F132EFCA8}"/>
              </a:ext>
            </a:extLst>
          </p:cNvPr>
          <p:cNvSpPr>
            <a:spLocks xmlns:a="http://schemas.openxmlformats.org/drawingml/2006/main" noGrp="1"/>
          </p:cNvSpPr>
          <p:nvPr/>
        </p:nvSpPr>
        <p:spPr>
          <a:xfrm xmlns:a="http://schemas.openxmlformats.org/drawingml/2006/main">
            <a:off x="781050" y="5133975"/>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Active account, mandatory skills, event availability, and maximum hours. Vacancies remain open when no eligible person can take them.</a:t>
            </a:r>
          </a:p>
        </p:txBody>
      </p:sp>
      <p:sp>
        <p:nvSpPr>
          <p:cNvPr id="8" name="fairness-gap">
            <a:extLst xmlns:a="http://schemas.openxmlformats.org/drawingml/2006/main">
              <a:ext uri="{FF2B5EF4-FFF2-40B4-BE49-F238E27FC236}">
                <a16:creationId xmlns:a16="http://schemas.microsoft.com/office/drawing/2014/main" id="{0EE98C7C-8972-4BFE-8AAC-B71D5173539D}"/>
              </a:ext>
            </a:extLst>
          </p:cNvPr>
          <p:cNvSpPr>
            <a:spLocks xmlns:a="http://schemas.openxmlformats.org/drawingml/2006/main" noGrp="1"/>
          </p:cNvSpPr>
          <p:nvPr/>
        </p:nvSpPr>
        <p:spPr>
          <a:xfrm xmlns:a="http://schemas.openxmlformats.org/drawingml/2006/main">
            <a:off x="781050" y="5953125"/>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6B6B6B"/>
                </a:solidFill>
                <a:latin typeface="Arial"/>
                <a:ea typeface="Arial"/>
                <a:cs typeface="Arial"/>
              </a:defRPr>
            </a:defPPr>
            <a:lvl1pPr algn="l">
              <a:defRPr sz="1425" b="1">
                <a:solidFill>
                  <a:srgbClr val="6B6B6B"/>
                </a:solidFill>
                <a:latin typeface="Arial"/>
                <a:ea typeface="Arial"/>
                <a:cs typeface="Arial"/>
              </a:defRPr>
            </a:lvl1pPr>
            <a:lvl2pPr algn="l">
              <a:defRPr sz="1425" b="1">
                <a:solidFill>
                  <a:srgbClr val="6B6B6B"/>
                </a:solidFill>
                <a:latin typeface="Arial"/>
                <a:ea typeface="Arial"/>
                <a:cs typeface="Arial"/>
              </a:defRPr>
            </a:lvl2pPr>
            <a:lvl3pPr algn="l">
              <a:defRPr sz="1425" b="1">
                <a:solidFill>
                  <a:srgbClr val="6B6B6B"/>
                </a:solidFill>
                <a:latin typeface="Arial"/>
                <a:ea typeface="Arial"/>
                <a:cs typeface="Arial"/>
              </a:defRPr>
            </a:lvl3pPr>
            <a:lvl4pPr algn="l">
              <a:defRPr sz="1425" b="1">
                <a:solidFill>
                  <a:srgbClr val="6B6B6B"/>
                </a:solidFill>
                <a:latin typeface="Arial"/>
                <a:ea typeface="Arial"/>
                <a:cs typeface="Arial"/>
              </a:defRPr>
            </a:lvl4pPr>
            <a:lvl5pPr algn="l">
              <a:defRPr sz="1425" b="1">
                <a:solidFill>
                  <a:srgbClr val="6B6B6B"/>
                </a:solidFill>
                <a:latin typeface="Arial"/>
                <a:ea typeface="Arial"/>
                <a:cs typeface="Arial"/>
              </a:defRPr>
            </a:lvl5pPr>
            <a:lvl6pPr algn="l">
              <a:defRPr sz="1425" b="1">
                <a:solidFill>
                  <a:srgbClr val="6B6B6B"/>
                </a:solidFill>
                <a:latin typeface="Arial"/>
                <a:ea typeface="Arial"/>
                <a:cs typeface="Arial"/>
              </a:defRPr>
            </a:lvl6pPr>
            <a:lvl7pPr algn="l">
              <a:defRPr sz="1425" b="1">
                <a:solidFill>
                  <a:srgbClr val="6B6B6B"/>
                </a:solidFill>
                <a:latin typeface="Arial"/>
                <a:ea typeface="Arial"/>
                <a:cs typeface="Arial"/>
              </a:defRPr>
            </a:lvl7pPr>
            <a:lvl8pPr algn="l">
              <a:defRPr sz="1425" b="1">
                <a:solidFill>
                  <a:srgbClr val="6B6B6B"/>
                </a:solidFill>
                <a:latin typeface="Arial"/>
                <a:ea typeface="Arial"/>
                <a:cs typeface="Arial"/>
              </a:defRPr>
            </a:lvl8pPr>
            <a:lvl9pPr algn="l">
              <a:defRPr sz="1425" b="1">
                <a:solidFill>
                  <a:srgbClr val="6B6B6B"/>
                </a:solidFill>
                <a:latin typeface="Arial"/>
                <a:ea typeface="Arial"/>
                <a:cs typeface="Arial"/>
              </a:defRPr>
            </a:lvl9pPr>
          </a:lstStyle>
          <a:p xmlns:a="http://schemas.openxmlformats.org/drawingml/2006/main">
            <a:pPr algn="l">
              <a:defRPr sz="1425" b="1">
                <a:solidFill>
                  <a:srgbClr val="6B6B6B"/>
                </a:solidFill>
                <a:latin typeface="Arial"/>
                <a:ea typeface="Arial"/>
                <a:cs typeface="Arial"/>
              </a:defRPr>
            </a:pPr>
            <a:r>
              <a:rPr sz="1425" b="1">
                <a:solidFill>
                  <a:srgbClr val="6B6B6B"/>
                </a:solidFill>
                <a:latin typeface="Arial"/>
                <a:ea typeface="Arial"/>
                <a:cs typeface="Arial"/>
              </a:rPr>
              <a:t>Current code has no explicit fairness score, and its weights are not centralized.</a:t>
            </a:r>
          </a:p>
        </p:txBody>
      </p:sp>
    </p:spTree>
    <p:extLst>
      <p:ext uri="{BB962C8B-B14F-4D97-AF65-F5344CB8AC3E}">
        <p14:creationId xmlns:p14="http://schemas.microsoft.com/office/powerpoint/2010/main" val="4525114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F7AA3F4C-D675-4AC5-8956-D453131DAFD8}"/>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Application architecture and publication controls</a:t>
            </a:r>
          </a:p>
        </p:txBody>
      </p:sp>
      <p:sp>
        <p:nvSpPr>
          <p:cNvPr id="2" name="architecture-heading-0">
            <a:extLst xmlns:a="http://schemas.openxmlformats.org/drawingml/2006/main">
              <a:ext uri="{FF2B5EF4-FFF2-40B4-BE49-F238E27FC236}">
                <a16:creationId xmlns:a16="http://schemas.microsoft.com/office/drawing/2014/main" id="{618BDA0F-5E49-4ECA-A91C-1F9BD09AD9A9}"/>
              </a:ext>
            </a:extLst>
          </p:cNvPr>
          <p:cNvSpPr>
            <a:spLocks xmlns:a="http://schemas.openxmlformats.org/drawingml/2006/main" noGrp="1"/>
          </p:cNvSpPr>
          <p:nvPr/>
        </p:nvSpPr>
        <p:spPr>
          <a:xfrm xmlns:a="http://schemas.openxmlformats.org/drawingml/2006/main">
            <a:off x="781050" y="17526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React + Vite</a:t>
            </a:r>
          </a:p>
        </p:txBody>
      </p:sp>
      <p:sp>
        <p:nvSpPr>
          <p:cNvPr id="3" name="architecture-copy-0">
            <a:extLst xmlns:a="http://schemas.openxmlformats.org/drawingml/2006/main">
              <a:ext uri="{FF2B5EF4-FFF2-40B4-BE49-F238E27FC236}">
                <a16:creationId xmlns:a16="http://schemas.microsoft.com/office/drawing/2014/main" id="{3F73F862-2B22-4717-8C7D-581A8BC34A49}"/>
              </a:ext>
            </a:extLst>
          </p:cNvPr>
          <p:cNvSpPr>
            <a:spLocks xmlns:a="http://schemas.openxmlformats.org/drawingml/2006/main" noGrp="1"/>
          </p:cNvSpPr>
          <p:nvPr/>
        </p:nvSpPr>
        <p:spPr>
          <a:xfrm xmlns:a="http://schemas.openxmlformats.org/drawingml/2006/main">
            <a:off x="781050" y="2305050"/>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Organizer and volunteer portals. Flask serves the compiled frontend in deployment.</a:t>
            </a:r>
          </a:p>
        </p:txBody>
      </p:sp>
      <p:sp>
        <p:nvSpPr>
          <p:cNvPr id="4" name="architecture-heading-1">
            <a:extLst xmlns:a="http://schemas.openxmlformats.org/drawingml/2006/main">
              <a:ext uri="{FF2B5EF4-FFF2-40B4-BE49-F238E27FC236}">
                <a16:creationId xmlns:a16="http://schemas.microsoft.com/office/drawing/2014/main" id="{A628FFE2-B38C-4390-9755-756BDBDF946F}"/>
              </a:ext>
            </a:extLst>
          </p:cNvPr>
          <p:cNvSpPr>
            <a:spLocks xmlns:a="http://schemas.openxmlformats.org/drawingml/2006/main" noGrp="1"/>
          </p:cNvSpPr>
          <p:nvPr/>
        </p:nvSpPr>
        <p:spPr>
          <a:xfrm xmlns:a="http://schemas.openxmlformats.org/drawingml/2006/main">
            <a:off x="4333875" y="17526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Flask + Python</a:t>
            </a:r>
          </a:p>
        </p:txBody>
      </p:sp>
      <p:sp>
        <p:nvSpPr>
          <p:cNvPr id="5" name="architecture-copy-1">
            <a:extLst xmlns:a="http://schemas.openxmlformats.org/drawingml/2006/main">
              <a:ext uri="{FF2B5EF4-FFF2-40B4-BE49-F238E27FC236}">
                <a16:creationId xmlns:a16="http://schemas.microsoft.com/office/drawing/2014/main" id="{46BB3708-DED4-42CF-BF4B-3C2272BE1B47}"/>
              </a:ext>
            </a:extLst>
          </p:cNvPr>
          <p:cNvSpPr>
            <a:spLocks xmlns:a="http://schemas.openxmlformats.org/drawingml/2006/main" noGrp="1"/>
          </p:cNvSpPr>
          <p:nvPr/>
        </p:nvSpPr>
        <p:spPr>
          <a:xfrm xmlns:a="http://schemas.openxmlformats.org/drawingml/2006/main">
            <a:off x="4333875" y="2305050"/>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Role-protected API, event workflows, reports, simulation, Greedy, and PuLP/CBC.</a:t>
            </a:r>
          </a:p>
        </p:txBody>
      </p:sp>
      <p:sp>
        <p:nvSpPr>
          <p:cNvPr id="6" name="architecture-heading-2">
            <a:extLst xmlns:a="http://schemas.openxmlformats.org/drawingml/2006/main">
              <a:ext uri="{FF2B5EF4-FFF2-40B4-BE49-F238E27FC236}">
                <a16:creationId xmlns:a16="http://schemas.microsoft.com/office/drawing/2014/main" id="{A2D90808-B3E9-42BA-9498-3C5396B3E147}"/>
              </a:ext>
            </a:extLst>
          </p:cNvPr>
          <p:cNvSpPr>
            <a:spLocks xmlns:a="http://schemas.openxmlformats.org/drawingml/2006/main" noGrp="1"/>
          </p:cNvSpPr>
          <p:nvPr/>
        </p:nvSpPr>
        <p:spPr>
          <a:xfrm xmlns:a="http://schemas.openxmlformats.org/drawingml/2006/main">
            <a:off x="7886700" y="17526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PostgreSQL</a:t>
            </a:r>
          </a:p>
        </p:txBody>
      </p:sp>
      <p:sp>
        <p:nvSpPr>
          <p:cNvPr id="7" name="architecture-copy-2">
            <a:extLst xmlns:a="http://schemas.openxmlformats.org/drawingml/2006/main">
              <a:ext uri="{FF2B5EF4-FFF2-40B4-BE49-F238E27FC236}">
                <a16:creationId xmlns:a16="http://schemas.microsoft.com/office/drawing/2014/main" id="{5A235652-5B95-4B31-A224-61C7D8E5062B}"/>
              </a:ext>
            </a:extLst>
          </p:cNvPr>
          <p:cNvSpPr>
            <a:spLocks xmlns:a="http://schemas.openxmlformats.org/drawingml/2006/main" noGrp="1"/>
          </p:cNvSpPr>
          <p:nvPr/>
        </p:nvSpPr>
        <p:spPr>
          <a:xfrm xmlns:a="http://schemas.openxmlformats.org/drawingml/2006/main">
            <a:off x="7886700" y="2305050"/>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Stores profiles, skills, requirements, assignments, versions, and audit history. SQLite supports local setup.</a:t>
            </a:r>
          </a:p>
        </p:txBody>
      </p:sp>
      <p:sp>
        <p:nvSpPr>
          <p:cNvPr id="8" name="publication-heading">
            <a:extLst xmlns:a="http://schemas.openxmlformats.org/drawingml/2006/main">
              <a:ext uri="{FF2B5EF4-FFF2-40B4-BE49-F238E27FC236}">
                <a16:creationId xmlns:a16="http://schemas.microsoft.com/office/drawing/2014/main" id="{E8C6FB0A-67EE-4B24-B008-23077F7B3FE6}"/>
              </a:ext>
            </a:extLst>
          </p:cNvPr>
          <p:cNvSpPr>
            <a:spLocks xmlns:a="http://schemas.openxmlformats.org/drawingml/2006/main" noGrp="1"/>
          </p:cNvSpPr>
          <p:nvPr/>
        </p:nvSpPr>
        <p:spPr>
          <a:xfrm xmlns:a="http://schemas.openxmlformats.org/drawingml/2006/main">
            <a:off x="781050" y="436245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242424"/>
                </a:solidFill>
                <a:latin typeface="Arial"/>
                <a:ea typeface="Arial"/>
                <a:cs typeface="Arial"/>
              </a:defRPr>
            </a:defPPr>
            <a:lvl1pPr algn="l">
              <a:defRPr sz="2025" b="1">
                <a:solidFill>
                  <a:srgbClr val="242424"/>
                </a:solidFill>
                <a:latin typeface="Arial"/>
                <a:ea typeface="Arial"/>
                <a:cs typeface="Arial"/>
              </a:defRPr>
            </a:lvl1pPr>
            <a:lvl2pPr algn="l">
              <a:defRPr sz="2025" b="1">
                <a:solidFill>
                  <a:srgbClr val="242424"/>
                </a:solidFill>
                <a:latin typeface="Arial"/>
                <a:ea typeface="Arial"/>
                <a:cs typeface="Arial"/>
              </a:defRPr>
            </a:lvl2pPr>
            <a:lvl3pPr algn="l">
              <a:defRPr sz="2025" b="1">
                <a:solidFill>
                  <a:srgbClr val="242424"/>
                </a:solidFill>
                <a:latin typeface="Arial"/>
                <a:ea typeface="Arial"/>
                <a:cs typeface="Arial"/>
              </a:defRPr>
            </a:lvl3pPr>
            <a:lvl4pPr algn="l">
              <a:defRPr sz="2025" b="1">
                <a:solidFill>
                  <a:srgbClr val="242424"/>
                </a:solidFill>
                <a:latin typeface="Arial"/>
                <a:ea typeface="Arial"/>
                <a:cs typeface="Arial"/>
              </a:defRPr>
            </a:lvl4pPr>
            <a:lvl5pPr algn="l">
              <a:defRPr sz="2025" b="1">
                <a:solidFill>
                  <a:srgbClr val="242424"/>
                </a:solidFill>
                <a:latin typeface="Arial"/>
                <a:ea typeface="Arial"/>
                <a:cs typeface="Arial"/>
              </a:defRPr>
            </a:lvl5pPr>
            <a:lvl6pPr algn="l">
              <a:defRPr sz="2025" b="1">
                <a:solidFill>
                  <a:srgbClr val="242424"/>
                </a:solidFill>
                <a:latin typeface="Arial"/>
                <a:ea typeface="Arial"/>
                <a:cs typeface="Arial"/>
              </a:defRPr>
            </a:lvl6pPr>
            <a:lvl7pPr algn="l">
              <a:defRPr sz="2025" b="1">
                <a:solidFill>
                  <a:srgbClr val="242424"/>
                </a:solidFill>
                <a:latin typeface="Arial"/>
                <a:ea typeface="Arial"/>
                <a:cs typeface="Arial"/>
              </a:defRPr>
            </a:lvl7pPr>
            <a:lvl8pPr algn="l">
              <a:defRPr sz="2025" b="1">
                <a:solidFill>
                  <a:srgbClr val="242424"/>
                </a:solidFill>
                <a:latin typeface="Arial"/>
                <a:ea typeface="Arial"/>
                <a:cs typeface="Arial"/>
              </a:defRPr>
            </a:lvl8pPr>
            <a:lvl9pPr algn="l">
              <a:defRPr sz="2025" b="1">
                <a:solidFill>
                  <a:srgbClr val="242424"/>
                </a:solidFill>
                <a:latin typeface="Arial"/>
                <a:ea typeface="Arial"/>
                <a:cs typeface="Arial"/>
              </a:defRPr>
            </a:lvl9pPr>
          </a:lstStyle>
          <a:p xmlns:a="http://schemas.openxmlformats.org/drawingml/2006/main">
            <a:pPr algn="l">
              <a:defRPr sz="2025" b="1">
                <a:solidFill>
                  <a:srgbClr val="242424"/>
                </a:solidFill>
                <a:latin typeface="Arial"/>
                <a:ea typeface="Arial"/>
                <a:cs typeface="Arial"/>
              </a:defRPr>
            </a:pPr>
            <a:r>
              <a:rPr sz="2025" b="1">
                <a:solidFill>
                  <a:srgbClr val="242424"/>
                </a:solidFill>
                <a:latin typeface="Arial"/>
                <a:ea typeface="Arial"/>
                <a:cs typeface="Arial"/>
              </a:rPr>
              <a:t>Draft, review, approval, publication</a:t>
            </a:r>
          </a:p>
        </p:txBody>
      </p:sp>
      <p:sp>
        <p:nvSpPr>
          <p:cNvPr id="9" name="publication-copy">
            <a:extLst xmlns:a="http://schemas.openxmlformats.org/drawingml/2006/main">
              <a:ext uri="{FF2B5EF4-FFF2-40B4-BE49-F238E27FC236}">
                <a16:creationId xmlns:a16="http://schemas.microsoft.com/office/drawing/2014/main" id="{760BD1FD-F816-4754-8E76-432E832A4949}"/>
              </a:ext>
            </a:extLst>
          </p:cNvPr>
          <p:cNvSpPr>
            <a:spLocks xmlns:a="http://schemas.openxmlformats.org/drawingml/2006/main" noGrp="1"/>
          </p:cNvSpPr>
          <p:nvPr/>
        </p:nvSpPr>
        <p:spPr>
          <a:xfrm xmlns:a="http://schemas.openxmlformats.org/drawingml/2006/main">
            <a:off x="781050" y="4876800"/>
            <a:ext cx="10382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The solver creates a draft. Organizers can review and edit it, then approve a specific version before publishing. Volunteers see their own published assignments only. Simulations use a copy of the inputs.</a:t>
            </a:r>
          </a:p>
        </p:txBody>
      </p:sp>
    </p:spTree>
    <p:extLst>
      <p:ext uri="{BB962C8B-B14F-4D97-AF65-F5344CB8AC3E}">
        <p14:creationId xmlns:p14="http://schemas.microsoft.com/office/powerpoint/2010/main" val="21027636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6905F99E-99BD-4B3B-B3CF-F28D4B3D380A}"/>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376"/>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Department rosters come from the published version</a:t>
            </a:r>
          </a:p>
        </p:txBody>
      </p:sp>
      <p:sp>
        <p:nvSpPr>
          <p:cNvPr id="2" name="csv-heading">
            <a:extLst xmlns:a="http://schemas.openxmlformats.org/drawingml/2006/main">
              <a:ext uri="{FF2B5EF4-FFF2-40B4-BE49-F238E27FC236}">
                <a16:creationId xmlns:a16="http://schemas.microsoft.com/office/drawing/2014/main" id="{C807E913-880E-4365-AE0B-2F63A95AF6BA}"/>
              </a:ext>
            </a:extLst>
          </p:cNvPr>
          <p:cNvSpPr>
            <a:spLocks xmlns:a="http://schemas.openxmlformats.org/drawingml/2006/main" noGrp="1"/>
          </p:cNvSpPr>
          <p:nvPr/>
        </p:nvSpPr>
        <p:spPr>
          <a:xfrm xmlns:a="http://schemas.openxmlformats.org/drawingml/2006/main">
            <a:off x="800100" y="17145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E8752E"/>
                </a:solidFill>
                <a:latin typeface="Arial"/>
                <a:ea typeface="Arial"/>
                <a:cs typeface="Arial"/>
              </a:defRPr>
            </a:defPPr>
            <a:lvl1pPr algn="l">
              <a:defRPr sz="2550" b="1">
                <a:solidFill>
                  <a:srgbClr val="E8752E"/>
                </a:solidFill>
                <a:latin typeface="Arial"/>
                <a:ea typeface="Arial"/>
                <a:cs typeface="Arial"/>
              </a:defRPr>
            </a:lvl1pPr>
            <a:lvl2pPr algn="l">
              <a:defRPr sz="2550" b="1">
                <a:solidFill>
                  <a:srgbClr val="E8752E"/>
                </a:solidFill>
                <a:latin typeface="Arial"/>
                <a:ea typeface="Arial"/>
                <a:cs typeface="Arial"/>
              </a:defRPr>
            </a:lvl2pPr>
            <a:lvl3pPr algn="l">
              <a:defRPr sz="2550" b="1">
                <a:solidFill>
                  <a:srgbClr val="E8752E"/>
                </a:solidFill>
                <a:latin typeface="Arial"/>
                <a:ea typeface="Arial"/>
                <a:cs typeface="Arial"/>
              </a:defRPr>
            </a:lvl3pPr>
            <a:lvl4pPr algn="l">
              <a:defRPr sz="2550" b="1">
                <a:solidFill>
                  <a:srgbClr val="E8752E"/>
                </a:solidFill>
                <a:latin typeface="Arial"/>
                <a:ea typeface="Arial"/>
                <a:cs typeface="Arial"/>
              </a:defRPr>
            </a:lvl4pPr>
            <a:lvl5pPr algn="l">
              <a:defRPr sz="2550" b="1">
                <a:solidFill>
                  <a:srgbClr val="E8752E"/>
                </a:solidFill>
                <a:latin typeface="Arial"/>
                <a:ea typeface="Arial"/>
                <a:cs typeface="Arial"/>
              </a:defRPr>
            </a:lvl5pPr>
            <a:lvl6pPr algn="l">
              <a:defRPr sz="2550" b="1">
                <a:solidFill>
                  <a:srgbClr val="E8752E"/>
                </a:solidFill>
                <a:latin typeface="Arial"/>
                <a:ea typeface="Arial"/>
                <a:cs typeface="Arial"/>
              </a:defRPr>
            </a:lvl6pPr>
            <a:lvl7pPr algn="l">
              <a:defRPr sz="2550" b="1">
                <a:solidFill>
                  <a:srgbClr val="E8752E"/>
                </a:solidFill>
                <a:latin typeface="Arial"/>
                <a:ea typeface="Arial"/>
                <a:cs typeface="Arial"/>
              </a:defRPr>
            </a:lvl7pPr>
            <a:lvl8pPr algn="l">
              <a:defRPr sz="2550" b="1">
                <a:solidFill>
                  <a:srgbClr val="E8752E"/>
                </a:solidFill>
                <a:latin typeface="Arial"/>
                <a:ea typeface="Arial"/>
                <a:cs typeface="Arial"/>
              </a:defRPr>
            </a:lvl8pPr>
            <a:lvl9pPr algn="l">
              <a:defRPr sz="2550" b="1">
                <a:solidFill>
                  <a:srgbClr val="E8752E"/>
                </a:solidFill>
                <a:latin typeface="Arial"/>
                <a:ea typeface="Arial"/>
                <a:cs typeface="Arial"/>
              </a:defRPr>
            </a:lvl9pPr>
          </a:lstStyle>
          <a:p xmlns:a="http://schemas.openxmlformats.org/drawingml/2006/main">
            <a:pPr algn="l">
              <a:defRPr sz="2550" b="1">
                <a:solidFill>
                  <a:srgbClr val="E8752E"/>
                </a:solidFill>
                <a:latin typeface="Arial"/>
                <a:ea typeface="Arial"/>
                <a:cs typeface="Arial"/>
              </a:defRPr>
            </a:pPr>
            <a:r>
              <a:rPr sz="2550" b="1">
                <a:solidFill>
                  <a:srgbClr val="E8752E"/>
                </a:solidFill>
                <a:latin typeface="Arial"/>
                <a:ea typeface="Arial"/>
                <a:cs typeface="Arial"/>
              </a:rPr>
              <a:t>CSV</a:t>
            </a:r>
          </a:p>
        </p:txBody>
      </p:sp>
      <p:sp>
        <p:nvSpPr>
          <p:cNvPr id="3" name="csv-copy">
            <a:extLst xmlns:a="http://schemas.openxmlformats.org/drawingml/2006/main">
              <a:ext uri="{FF2B5EF4-FFF2-40B4-BE49-F238E27FC236}">
                <a16:creationId xmlns:a16="http://schemas.microsoft.com/office/drawing/2014/main" id="{870A49D9-D713-4B3F-B8BA-FA6B7866C8CE}"/>
              </a:ext>
            </a:extLst>
          </p:cNvPr>
          <p:cNvSpPr>
            <a:spLocks xmlns:a="http://schemas.openxmlformats.org/drawingml/2006/main" noGrp="1"/>
          </p:cNvSpPr>
          <p:nvPr/>
        </p:nvSpPr>
        <p:spPr>
          <a:xfrm xmlns:a="http://schemas.openxmlformats.org/drawingml/2006/main">
            <a:off x="800100" y="234315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One row per assigned volunteer.</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Department, role, priority, volunteer name, and student ID.</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Easy to filter or import into another sheet.</a:t>
            </a:r>
          </a:p>
        </p:txBody>
      </p:sp>
      <p:sp>
        <p:nvSpPr>
          <p:cNvPr id="4" name="excel-heading">
            <a:extLst xmlns:a="http://schemas.openxmlformats.org/drawingml/2006/main">
              <a:ext uri="{FF2B5EF4-FFF2-40B4-BE49-F238E27FC236}">
                <a16:creationId xmlns:a16="http://schemas.microsoft.com/office/drawing/2014/main" id="{A5D5307A-71AF-4BDE-9C14-CA97402F1928}"/>
              </a:ext>
            </a:extLst>
          </p:cNvPr>
          <p:cNvSpPr>
            <a:spLocks xmlns:a="http://schemas.openxmlformats.org/drawingml/2006/main" noGrp="1"/>
          </p:cNvSpPr>
          <p:nvPr/>
        </p:nvSpPr>
        <p:spPr>
          <a:xfrm xmlns:a="http://schemas.openxmlformats.org/drawingml/2006/main">
            <a:off x="6400800" y="171450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E8752E"/>
                </a:solidFill>
                <a:latin typeface="Arial"/>
                <a:ea typeface="Arial"/>
                <a:cs typeface="Arial"/>
              </a:defRPr>
            </a:defPPr>
            <a:lvl1pPr algn="l">
              <a:defRPr sz="2550" b="1">
                <a:solidFill>
                  <a:srgbClr val="E8752E"/>
                </a:solidFill>
                <a:latin typeface="Arial"/>
                <a:ea typeface="Arial"/>
                <a:cs typeface="Arial"/>
              </a:defRPr>
            </a:lvl1pPr>
            <a:lvl2pPr algn="l">
              <a:defRPr sz="2550" b="1">
                <a:solidFill>
                  <a:srgbClr val="E8752E"/>
                </a:solidFill>
                <a:latin typeface="Arial"/>
                <a:ea typeface="Arial"/>
                <a:cs typeface="Arial"/>
              </a:defRPr>
            </a:lvl2pPr>
            <a:lvl3pPr algn="l">
              <a:defRPr sz="2550" b="1">
                <a:solidFill>
                  <a:srgbClr val="E8752E"/>
                </a:solidFill>
                <a:latin typeface="Arial"/>
                <a:ea typeface="Arial"/>
                <a:cs typeface="Arial"/>
              </a:defRPr>
            </a:lvl3pPr>
            <a:lvl4pPr algn="l">
              <a:defRPr sz="2550" b="1">
                <a:solidFill>
                  <a:srgbClr val="E8752E"/>
                </a:solidFill>
                <a:latin typeface="Arial"/>
                <a:ea typeface="Arial"/>
                <a:cs typeface="Arial"/>
              </a:defRPr>
            </a:lvl4pPr>
            <a:lvl5pPr algn="l">
              <a:defRPr sz="2550" b="1">
                <a:solidFill>
                  <a:srgbClr val="E8752E"/>
                </a:solidFill>
                <a:latin typeface="Arial"/>
                <a:ea typeface="Arial"/>
                <a:cs typeface="Arial"/>
              </a:defRPr>
            </a:lvl5pPr>
            <a:lvl6pPr algn="l">
              <a:defRPr sz="2550" b="1">
                <a:solidFill>
                  <a:srgbClr val="E8752E"/>
                </a:solidFill>
                <a:latin typeface="Arial"/>
                <a:ea typeface="Arial"/>
                <a:cs typeface="Arial"/>
              </a:defRPr>
            </a:lvl6pPr>
            <a:lvl7pPr algn="l">
              <a:defRPr sz="2550" b="1">
                <a:solidFill>
                  <a:srgbClr val="E8752E"/>
                </a:solidFill>
                <a:latin typeface="Arial"/>
                <a:ea typeface="Arial"/>
                <a:cs typeface="Arial"/>
              </a:defRPr>
            </a:lvl7pPr>
            <a:lvl8pPr algn="l">
              <a:defRPr sz="2550" b="1">
                <a:solidFill>
                  <a:srgbClr val="E8752E"/>
                </a:solidFill>
                <a:latin typeface="Arial"/>
                <a:ea typeface="Arial"/>
                <a:cs typeface="Arial"/>
              </a:defRPr>
            </a:lvl8pPr>
            <a:lvl9pPr algn="l">
              <a:defRPr sz="2550" b="1">
                <a:solidFill>
                  <a:srgbClr val="E8752E"/>
                </a:solidFill>
                <a:latin typeface="Arial"/>
                <a:ea typeface="Arial"/>
                <a:cs typeface="Arial"/>
              </a:defRPr>
            </a:lvl9pPr>
          </a:lstStyle>
          <a:p xmlns:a="http://schemas.openxmlformats.org/drawingml/2006/main">
            <a:pPr algn="l">
              <a:defRPr sz="2550" b="1">
                <a:solidFill>
                  <a:srgbClr val="E8752E"/>
                </a:solidFill>
                <a:latin typeface="Arial"/>
                <a:ea typeface="Arial"/>
                <a:cs typeface="Arial"/>
              </a:defRPr>
            </a:pPr>
            <a:r>
              <a:rPr sz="2550" b="1">
                <a:solidFill>
                  <a:srgbClr val="E8752E"/>
                </a:solidFill>
                <a:latin typeface="Arial"/>
                <a:ea typeface="Arial"/>
                <a:cs typeface="Arial"/>
              </a:rPr>
              <a:t>Excel workbook</a:t>
            </a:r>
          </a:p>
        </p:txBody>
      </p:sp>
      <p:sp>
        <p:nvSpPr>
          <p:cNvPr id="5" name="excel-copy">
            <a:extLst xmlns:a="http://schemas.openxmlformats.org/drawingml/2006/main">
              <a:ext uri="{FF2B5EF4-FFF2-40B4-BE49-F238E27FC236}">
                <a16:creationId xmlns:a16="http://schemas.microsoft.com/office/drawing/2014/main" id="{5985B055-E16C-4AA4-9D0D-0734560DDC12}"/>
              </a:ext>
            </a:extLst>
          </p:cNvPr>
          <p:cNvSpPr>
            <a:spLocks xmlns:a="http://schemas.openxmlformats.org/drawingml/2006/main" noGrp="1"/>
          </p:cNvSpPr>
          <p:nvPr/>
        </p:nvSpPr>
        <p:spPr>
          <a:xfrm xmlns:a="http://schemas.openxmlformats.org/drawingml/2006/main">
            <a:off x="6400800" y="2343150"/>
            <a:ext cx="4857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486"/>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A summary sheet shows required, assigned, vacant, and coverage totals.</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One worksheet per department lists assigned volunteers.</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The current workbook includes eight department sheets.</a:t>
            </a:r>
          </a:p>
        </p:txBody>
      </p:sp>
      <p:sp>
        <p:nvSpPr>
          <p:cNvPr id="6" name="export-control">
            <a:extLst xmlns:a="http://schemas.openxmlformats.org/drawingml/2006/main">
              <a:ext uri="{FF2B5EF4-FFF2-40B4-BE49-F238E27FC236}">
                <a16:creationId xmlns:a16="http://schemas.microsoft.com/office/drawing/2014/main" id="{3A6B8F1D-D683-44C6-A865-2A84581E7B56}"/>
              </a:ext>
            </a:extLst>
          </p:cNvPr>
          <p:cNvSpPr>
            <a:spLocks xmlns:a="http://schemas.openxmlformats.org/drawingml/2006/main" noGrp="1"/>
          </p:cNvSpPr>
          <p:nvPr/>
        </p:nvSpPr>
        <p:spPr>
          <a:xfrm xmlns:a="http://schemas.openxmlformats.org/drawingml/2006/main">
            <a:off x="800100" y="5095875"/>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6B6B6B"/>
                </a:solidFill>
                <a:latin typeface="Arial"/>
                <a:ea typeface="Arial"/>
                <a:cs typeface="Arial"/>
              </a:defRPr>
            </a:defPPr>
            <a:lvl1pPr algn="l">
              <a:defRPr sz="1650" b="1">
                <a:solidFill>
                  <a:srgbClr val="6B6B6B"/>
                </a:solidFill>
                <a:latin typeface="Arial"/>
                <a:ea typeface="Arial"/>
                <a:cs typeface="Arial"/>
              </a:defRPr>
            </a:lvl1pPr>
            <a:lvl2pPr algn="l">
              <a:defRPr sz="1650" b="1">
                <a:solidFill>
                  <a:srgbClr val="6B6B6B"/>
                </a:solidFill>
                <a:latin typeface="Arial"/>
                <a:ea typeface="Arial"/>
                <a:cs typeface="Arial"/>
              </a:defRPr>
            </a:lvl2pPr>
            <a:lvl3pPr algn="l">
              <a:defRPr sz="1650" b="1">
                <a:solidFill>
                  <a:srgbClr val="6B6B6B"/>
                </a:solidFill>
                <a:latin typeface="Arial"/>
                <a:ea typeface="Arial"/>
                <a:cs typeface="Arial"/>
              </a:defRPr>
            </a:lvl3pPr>
            <a:lvl4pPr algn="l">
              <a:defRPr sz="1650" b="1">
                <a:solidFill>
                  <a:srgbClr val="6B6B6B"/>
                </a:solidFill>
                <a:latin typeface="Arial"/>
                <a:ea typeface="Arial"/>
                <a:cs typeface="Arial"/>
              </a:defRPr>
            </a:lvl4pPr>
            <a:lvl5pPr algn="l">
              <a:defRPr sz="1650" b="1">
                <a:solidFill>
                  <a:srgbClr val="6B6B6B"/>
                </a:solidFill>
                <a:latin typeface="Arial"/>
                <a:ea typeface="Arial"/>
                <a:cs typeface="Arial"/>
              </a:defRPr>
            </a:lvl5pPr>
            <a:lvl6pPr algn="l">
              <a:defRPr sz="1650" b="1">
                <a:solidFill>
                  <a:srgbClr val="6B6B6B"/>
                </a:solidFill>
                <a:latin typeface="Arial"/>
                <a:ea typeface="Arial"/>
                <a:cs typeface="Arial"/>
              </a:defRPr>
            </a:lvl6pPr>
            <a:lvl7pPr algn="l">
              <a:defRPr sz="1650" b="1">
                <a:solidFill>
                  <a:srgbClr val="6B6B6B"/>
                </a:solidFill>
                <a:latin typeface="Arial"/>
                <a:ea typeface="Arial"/>
                <a:cs typeface="Arial"/>
              </a:defRPr>
            </a:lvl7pPr>
            <a:lvl8pPr algn="l">
              <a:defRPr sz="1650" b="1">
                <a:solidFill>
                  <a:srgbClr val="6B6B6B"/>
                </a:solidFill>
                <a:latin typeface="Arial"/>
                <a:ea typeface="Arial"/>
                <a:cs typeface="Arial"/>
              </a:defRPr>
            </a:lvl8pPr>
            <a:lvl9pPr algn="l">
              <a:defRPr sz="1650" b="1">
                <a:solidFill>
                  <a:srgbClr val="6B6B6B"/>
                </a:solidFill>
                <a:latin typeface="Arial"/>
                <a:ea typeface="Arial"/>
                <a:cs typeface="Arial"/>
              </a:defRPr>
            </a:lvl9pPr>
          </a:lstStyle>
          <a:p xmlns:a="http://schemas.openxmlformats.org/drawingml/2006/main">
            <a:pPr algn="l">
              <a:defRPr sz="1650" b="1">
                <a:solidFill>
                  <a:srgbClr val="6B6B6B"/>
                </a:solidFill>
                <a:latin typeface="Arial"/>
                <a:ea typeface="Arial"/>
                <a:cs typeface="Arial"/>
              </a:defRPr>
            </a:pPr>
            <a:r>
              <a:rPr sz="1650" b="1">
                <a:solidFill>
                  <a:srgbClr val="6B6B6B"/>
                </a:solidFill>
                <a:latin typeface="Arial"/>
                <a:ea typeface="Arial"/>
                <a:cs typeface="Arial"/>
              </a:rPr>
              <a:t>Organizer login and a published allocation are required. Department heads receive files from the Convener or Co-convener; this build has no separate department-head login.</a:t>
            </a:r>
          </a:p>
        </p:txBody>
      </p:sp>
    </p:spTree>
    <p:extLst>
      <p:ext uri="{BB962C8B-B14F-4D97-AF65-F5344CB8AC3E}">
        <p14:creationId xmlns:p14="http://schemas.microsoft.com/office/powerpoint/2010/main" val="5450658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A5FD9A59-A900-48A7-8A86-C46418F598A5}"/>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Docker Compose runs the production web stack</a:t>
            </a:r>
          </a:p>
        </p:txBody>
      </p:sp>
      <p:sp>
        <p:nvSpPr>
          <p:cNvPr id="2" name="compose-heading-0">
            <a:extLst xmlns:a="http://schemas.openxmlformats.org/drawingml/2006/main">
              <a:ext uri="{FF2B5EF4-FFF2-40B4-BE49-F238E27FC236}">
                <a16:creationId xmlns:a16="http://schemas.microsoft.com/office/drawing/2014/main" id="{1546039B-4B5B-4760-B65F-723755646FEB}"/>
              </a:ext>
            </a:extLst>
          </p:cNvPr>
          <p:cNvSpPr>
            <a:spLocks xmlns:a="http://schemas.openxmlformats.org/drawingml/2006/main" noGrp="1"/>
          </p:cNvSpPr>
          <p:nvPr/>
        </p:nvSpPr>
        <p:spPr>
          <a:xfrm xmlns:a="http://schemas.openxmlformats.org/drawingml/2006/main">
            <a:off x="800100" y="15716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PostgreSQL 16</a:t>
            </a:r>
          </a:p>
        </p:txBody>
      </p:sp>
      <p:sp>
        <p:nvSpPr>
          <p:cNvPr id="3" name="compose-copy-0">
            <a:extLst xmlns:a="http://schemas.openxmlformats.org/drawingml/2006/main">
              <a:ext uri="{FF2B5EF4-FFF2-40B4-BE49-F238E27FC236}">
                <a16:creationId xmlns:a16="http://schemas.microsoft.com/office/drawing/2014/main" id="{23603300-49B7-481A-9147-A3EC657656B8}"/>
              </a:ext>
            </a:extLst>
          </p:cNvPr>
          <p:cNvSpPr>
            <a:spLocks xmlns:a="http://schemas.openxmlformats.org/drawingml/2006/main" noGrp="1"/>
          </p:cNvSpPr>
          <p:nvPr/>
        </p:nvSpPr>
        <p:spPr>
          <a:xfrm xmlns:a="http://schemas.openxmlformats.org/drawingml/2006/main">
            <a:off x="4191000" y="15716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Persistent database volume and health check.</a:t>
            </a:r>
          </a:p>
        </p:txBody>
      </p:sp>
      <p:sp>
        <p:nvSpPr>
          <p:cNvPr id="4" name="compose-heading-1">
            <a:extLst xmlns:a="http://schemas.openxmlformats.org/drawingml/2006/main">
              <a:ext uri="{FF2B5EF4-FFF2-40B4-BE49-F238E27FC236}">
                <a16:creationId xmlns:a16="http://schemas.microsoft.com/office/drawing/2014/main" id="{58D52DE3-9300-4665-884A-DFBD05914C70}"/>
              </a:ext>
            </a:extLst>
          </p:cNvPr>
          <p:cNvSpPr>
            <a:spLocks xmlns:a="http://schemas.openxmlformats.org/drawingml/2006/main" noGrp="1"/>
          </p:cNvSpPr>
          <p:nvPr/>
        </p:nvSpPr>
        <p:spPr>
          <a:xfrm xmlns:a="http://schemas.openxmlformats.org/drawingml/2006/main">
            <a:off x="800100" y="26384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Python 3.12 + Gunicorn</a:t>
            </a:r>
          </a:p>
        </p:txBody>
      </p:sp>
      <p:sp>
        <p:nvSpPr>
          <p:cNvPr id="5" name="compose-copy-1">
            <a:extLst xmlns:a="http://schemas.openxmlformats.org/drawingml/2006/main">
              <a:ext uri="{FF2B5EF4-FFF2-40B4-BE49-F238E27FC236}">
                <a16:creationId xmlns:a16="http://schemas.microsoft.com/office/drawing/2014/main" id="{B1325B4E-5175-481E-A0B1-1D85F797AEB6}"/>
              </a:ext>
            </a:extLst>
          </p:cNvPr>
          <p:cNvSpPr>
            <a:spLocks xmlns:a="http://schemas.openxmlformats.org/drawingml/2006/main" noGrp="1"/>
          </p:cNvSpPr>
          <p:nvPr/>
        </p:nvSpPr>
        <p:spPr>
          <a:xfrm xmlns:a="http://schemas.openxmlformats.org/drawingml/2006/main">
            <a:off x="4191000" y="26384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Flask API serves the built React app.</a:t>
            </a:r>
          </a:p>
        </p:txBody>
      </p:sp>
      <p:sp>
        <p:nvSpPr>
          <p:cNvPr id="6" name="compose-heading-2">
            <a:extLst xmlns:a="http://schemas.openxmlformats.org/drawingml/2006/main">
              <a:ext uri="{FF2B5EF4-FFF2-40B4-BE49-F238E27FC236}">
                <a16:creationId xmlns:a16="http://schemas.microsoft.com/office/drawing/2014/main" id="{7AE41CAE-1244-46BE-B53D-D525BF141DB4}"/>
              </a:ext>
            </a:extLst>
          </p:cNvPr>
          <p:cNvSpPr>
            <a:spLocks xmlns:a="http://schemas.openxmlformats.org/drawingml/2006/main" noGrp="1"/>
          </p:cNvSpPr>
          <p:nvPr/>
        </p:nvSpPr>
        <p:spPr>
          <a:xfrm xmlns:a="http://schemas.openxmlformats.org/drawingml/2006/main">
            <a:off x="800100" y="37052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Startup sequence</a:t>
            </a:r>
          </a:p>
        </p:txBody>
      </p:sp>
      <p:sp>
        <p:nvSpPr>
          <p:cNvPr id="7" name="compose-copy-2">
            <a:extLst xmlns:a="http://schemas.openxmlformats.org/drawingml/2006/main">
              <a:ext uri="{FF2B5EF4-FFF2-40B4-BE49-F238E27FC236}">
                <a16:creationId xmlns:a16="http://schemas.microsoft.com/office/drawing/2014/main" id="{36DA78F0-145E-4906-999B-643954F5702C}"/>
              </a:ext>
            </a:extLst>
          </p:cNvPr>
          <p:cNvSpPr>
            <a:spLocks xmlns:a="http://schemas.openxmlformats.org/drawingml/2006/main" noGrp="1"/>
          </p:cNvSpPr>
          <p:nvPr/>
        </p:nvSpPr>
        <p:spPr>
          <a:xfrm xmlns:a="http://schemas.openxmlformats.org/drawingml/2006/main">
            <a:off x="4191000" y="37052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Wait for PostgreSQL, apply migrations, seed the catalog, then start Gunicorn.</a:t>
            </a:r>
          </a:p>
        </p:txBody>
      </p:sp>
      <p:sp>
        <p:nvSpPr>
          <p:cNvPr id="8" name="compose-heading-3">
            <a:extLst xmlns:a="http://schemas.openxmlformats.org/drawingml/2006/main">
              <a:ext uri="{FF2B5EF4-FFF2-40B4-BE49-F238E27FC236}">
                <a16:creationId xmlns:a16="http://schemas.microsoft.com/office/drawing/2014/main" id="{190318B8-DF47-4AE0-8403-4CB00C502A87}"/>
              </a:ext>
            </a:extLst>
          </p:cNvPr>
          <p:cNvSpPr>
            <a:spLocks xmlns:a="http://schemas.openxmlformats.org/drawingml/2006/main" noGrp="1"/>
          </p:cNvSpPr>
          <p:nvPr/>
        </p:nvSpPr>
        <p:spPr>
          <a:xfrm xmlns:a="http://schemas.openxmlformats.org/drawingml/2006/main">
            <a:off x="800100" y="47720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Production data defaults</a:t>
            </a:r>
          </a:p>
        </p:txBody>
      </p:sp>
      <p:sp>
        <p:nvSpPr>
          <p:cNvPr id="9" name="compose-copy-3">
            <a:extLst xmlns:a="http://schemas.openxmlformats.org/drawingml/2006/main">
              <a:ext uri="{FF2B5EF4-FFF2-40B4-BE49-F238E27FC236}">
                <a16:creationId xmlns:a16="http://schemas.microsoft.com/office/drawing/2014/main" id="{F38F3DAA-089C-4EB8-89D0-9E6B52C35AE8}"/>
              </a:ext>
            </a:extLst>
          </p:cNvPr>
          <p:cNvSpPr>
            <a:spLocks xmlns:a="http://schemas.openxmlformats.org/drawingml/2006/main" noGrp="1"/>
          </p:cNvSpPr>
          <p:nvPr/>
        </p:nvSpPr>
        <p:spPr>
          <a:xfrm xmlns:a="http://schemas.openxmlformats.org/drawingml/2006/main">
            <a:off x="4191000" y="47720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Known demo accounts and sample records stay off. Bootstrap an organizer through .env; keep SEED_DEMO_DATA=false.</a:t>
            </a:r>
          </a:p>
        </p:txBody>
      </p:sp>
      <p:sp>
        <p:nvSpPr>
          <p:cNvPr id="10" name="compose-caveat">
            <a:extLst xmlns:a="http://schemas.openxmlformats.org/drawingml/2006/main">
              <a:ext uri="{FF2B5EF4-FFF2-40B4-BE49-F238E27FC236}">
                <a16:creationId xmlns:a16="http://schemas.microsoft.com/office/drawing/2014/main" id="{637D1FA8-7CDE-4771-A369-D0154D2C1CE7}"/>
              </a:ext>
            </a:extLst>
          </p:cNvPr>
          <p:cNvSpPr>
            <a:spLocks xmlns:a="http://schemas.openxmlformats.org/drawingml/2006/main" noGrp="1"/>
          </p:cNvSpPr>
          <p:nvPr/>
        </p:nvSpPr>
        <p:spPr>
          <a:xfrm xmlns:a="http://schemas.openxmlformats.org/drawingml/2006/main">
            <a:off x="800100" y="600075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B6B6B"/>
                </a:solidFill>
                <a:latin typeface="Arial"/>
                <a:ea typeface="Arial"/>
                <a:cs typeface="Arial"/>
              </a:defRPr>
            </a:defPPr>
            <a:lvl1pPr algn="l">
              <a:defRPr sz="1425" b="0">
                <a:solidFill>
                  <a:srgbClr val="6B6B6B"/>
                </a:solidFill>
                <a:latin typeface="Arial"/>
                <a:ea typeface="Arial"/>
                <a:cs typeface="Arial"/>
              </a:defRPr>
            </a:lvl1pPr>
            <a:lvl2pPr algn="l">
              <a:defRPr sz="1425" b="0">
                <a:solidFill>
                  <a:srgbClr val="6B6B6B"/>
                </a:solidFill>
                <a:latin typeface="Arial"/>
                <a:ea typeface="Arial"/>
                <a:cs typeface="Arial"/>
              </a:defRPr>
            </a:lvl2pPr>
            <a:lvl3pPr algn="l">
              <a:defRPr sz="1425" b="0">
                <a:solidFill>
                  <a:srgbClr val="6B6B6B"/>
                </a:solidFill>
                <a:latin typeface="Arial"/>
                <a:ea typeface="Arial"/>
                <a:cs typeface="Arial"/>
              </a:defRPr>
            </a:lvl3pPr>
            <a:lvl4pPr algn="l">
              <a:defRPr sz="1425" b="0">
                <a:solidFill>
                  <a:srgbClr val="6B6B6B"/>
                </a:solidFill>
                <a:latin typeface="Arial"/>
                <a:ea typeface="Arial"/>
                <a:cs typeface="Arial"/>
              </a:defRPr>
            </a:lvl4pPr>
            <a:lvl5pPr algn="l">
              <a:defRPr sz="1425" b="0">
                <a:solidFill>
                  <a:srgbClr val="6B6B6B"/>
                </a:solidFill>
                <a:latin typeface="Arial"/>
                <a:ea typeface="Arial"/>
                <a:cs typeface="Arial"/>
              </a:defRPr>
            </a:lvl5pPr>
            <a:lvl6pPr algn="l">
              <a:defRPr sz="1425" b="0">
                <a:solidFill>
                  <a:srgbClr val="6B6B6B"/>
                </a:solidFill>
                <a:latin typeface="Arial"/>
                <a:ea typeface="Arial"/>
                <a:cs typeface="Arial"/>
              </a:defRPr>
            </a:lvl6pPr>
            <a:lvl7pPr algn="l">
              <a:defRPr sz="1425" b="0">
                <a:solidFill>
                  <a:srgbClr val="6B6B6B"/>
                </a:solidFill>
                <a:latin typeface="Arial"/>
                <a:ea typeface="Arial"/>
                <a:cs typeface="Arial"/>
              </a:defRPr>
            </a:lvl7pPr>
            <a:lvl8pPr algn="l">
              <a:defRPr sz="1425" b="0">
                <a:solidFill>
                  <a:srgbClr val="6B6B6B"/>
                </a:solidFill>
                <a:latin typeface="Arial"/>
                <a:ea typeface="Arial"/>
                <a:cs typeface="Arial"/>
              </a:defRPr>
            </a:lvl8pPr>
            <a:lvl9pPr algn="l">
              <a:defRPr sz="1425" b="0">
                <a:solidFill>
                  <a:srgbClr val="6B6B6B"/>
                </a:solidFill>
                <a:latin typeface="Arial"/>
                <a:ea typeface="Arial"/>
                <a:cs typeface="Arial"/>
              </a:defRPr>
            </a:lvl9pPr>
          </a:lstStyle>
          <a:p xmlns:a="http://schemas.openxmlformats.org/drawingml/2006/main">
            <a:pPr algn="l">
              <a:defRPr sz="1425" b="0">
                <a:solidFill>
                  <a:srgbClr val="6B6B6B"/>
                </a:solidFill>
                <a:latin typeface="Arial"/>
                <a:ea typeface="Arial"/>
                <a:cs typeface="Arial"/>
              </a:defRPr>
            </a:pPr>
            <a:r>
              <a:rPr sz="1425" b="0">
                <a:solidFill>
                  <a:srgbClr val="6B6B6B"/>
                </a:solidFill>
                <a:latin typeface="Arial"/>
                <a:ea typeface="Arial"/>
                <a:cs typeface="Arial"/>
              </a:rPr>
              <a:t>Single-host deployment. Configure HTTPS, backups, and an approved OTP email provider before real committee use.</a:t>
            </a:r>
          </a:p>
        </p:txBody>
      </p:sp>
    </p:spTree>
    <p:extLst>
      <p:ext uri="{BB962C8B-B14F-4D97-AF65-F5344CB8AC3E}">
        <p14:creationId xmlns:p14="http://schemas.microsoft.com/office/powerpoint/2010/main" val="3332893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7ACDDDE-F46B-459F-B15A-99897DE71BEC}"/>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Live demo and production decisions</a:t>
            </a:r>
          </a:p>
        </p:txBody>
      </p:sp>
      <p:sp>
        <p:nvSpPr>
          <p:cNvPr id="2" name="demo-heading">
            <a:extLst xmlns:a="http://schemas.openxmlformats.org/drawingml/2006/main">
              <a:ext uri="{FF2B5EF4-FFF2-40B4-BE49-F238E27FC236}">
                <a16:creationId xmlns:a16="http://schemas.microsoft.com/office/drawing/2014/main" id="{AF1F23B0-857C-4038-A740-EDAB0164A838}"/>
              </a:ext>
            </a:extLst>
          </p:cNvPr>
          <p:cNvSpPr>
            <a:spLocks xmlns:a="http://schemas.openxmlformats.org/drawingml/2006/main" noGrp="1"/>
          </p:cNvSpPr>
          <p:nvPr/>
        </p:nvSpPr>
        <p:spPr>
          <a:xfrm xmlns:a="http://schemas.openxmlformats.org/drawingml/2006/main">
            <a:off x="781050" y="1571625"/>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Live demo</a:t>
            </a:r>
          </a:p>
        </p:txBody>
      </p:sp>
      <p:sp>
        <p:nvSpPr>
          <p:cNvPr id="3" name="demo-steps">
            <a:extLst xmlns:a="http://schemas.openxmlformats.org/drawingml/2006/main">
              <a:ext uri="{FF2B5EF4-FFF2-40B4-BE49-F238E27FC236}">
                <a16:creationId xmlns:a16="http://schemas.microsoft.com/office/drawing/2014/main" id="{5DA427C0-3733-410E-8B20-54B586858495}"/>
              </a:ext>
            </a:extLst>
          </p:cNvPr>
          <p:cNvSpPr>
            <a:spLocks xmlns:a="http://schemas.openxmlformats.org/drawingml/2006/main" noGrp="1"/>
          </p:cNvSpPr>
          <p:nvPr/>
        </p:nvSpPr>
        <p:spPr>
          <a:xfrm xmlns:a="http://schemas.openxmlformats.org/drawingml/2006/main">
            <a:off x="781050" y="2114550"/>
            <a:ext cx="485775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Open http://localhost:5000 and choose the Convener demo account.</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Open Reports &amp; Allocation to compare the current snapshot.</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Review six open positions, then download the published CSV or Excel roster.</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Use the volunteer account to show the personal published-assignment view.</a:t>
            </a:r>
          </a:p>
        </p:txBody>
      </p:sp>
      <p:sp>
        <p:nvSpPr>
          <p:cNvPr id="4" name="decisions-heading">
            <a:extLst xmlns:a="http://schemas.openxmlformats.org/drawingml/2006/main">
              <a:ext uri="{FF2B5EF4-FFF2-40B4-BE49-F238E27FC236}">
                <a16:creationId xmlns:a16="http://schemas.microsoft.com/office/drawing/2014/main" id="{C17CA0BD-FA38-4A9C-8936-771C7CA57278}"/>
              </a:ext>
            </a:extLst>
          </p:cNvPr>
          <p:cNvSpPr>
            <a:spLocks xmlns:a="http://schemas.openxmlformats.org/drawingml/2006/main" noGrp="1"/>
          </p:cNvSpPr>
          <p:nvPr/>
        </p:nvSpPr>
        <p:spPr>
          <a:xfrm xmlns:a="http://schemas.openxmlformats.org/drawingml/2006/main">
            <a:off x="6496050" y="15716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Before live deployment</a:t>
            </a:r>
          </a:p>
        </p:txBody>
      </p:sp>
      <p:sp>
        <p:nvSpPr>
          <p:cNvPr id="5" name="production-decisions">
            <a:extLst xmlns:a="http://schemas.openxmlformats.org/drawingml/2006/main">
              <a:ext uri="{FF2B5EF4-FFF2-40B4-BE49-F238E27FC236}">
                <a16:creationId xmlns:a16="http://schemas.microsoft.com/office/drawing/2014/main" id="{1C9666F7-50FE-438A-A33B-D48BFFDB2132}"/>
              </a:ext>
            </a:extLst>
          </p:cNvPr>
          <p:cNvSpPr>
            <a:spLocks xmlns:a="http://schemas.openxmlformats.org/drawingml/2006/main" noGrp="1"/>
          </p:cNvSpPr>
          <p:nvPr/>
        </p:nvSpPr>
        <p:spPr>
          <a:xfrm xmlns:a="http://schemas.openxmlformats.org/drawingml/2006/main">
            <a:off x="6496050" y="2114550"/>
            <a:ext cx="485775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Approve and centralize the score weights. Define a measurable fairness policy.</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Connect a vetted email provider for volunteer activation.</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Use unique secrets and organizer credentials. Keep demo seeding off.</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Decide whether department heads need their own authenticated access.</a:t>
            </a:r>
          </a:p>
        </p:txBody>
      </p:sp>
    </p:spTree>
    <p:extLst>
      <p:ext uri="{BB962C8B-B14F-4D97-AF65-F5344CB8AC3E}">
        <p14:creationId xmlns:p14="http://schemas.microsoft.com/office/powerpoint/2010/main" val="12535180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2026-10-25T14:12:22.4160000Z</dcterms:created>
  <dcterms:modified xsi:type="dcterms:W3CDTF">2026-10-25T14:12:22.4170000Z</dcterms:modified>
</coreProperties>
</file>